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9"/>
    <p:sldId id="264" r:id="rId10"/>
    <p:sldId id="265" r:id="rId11"/>
    <p:sldId id="266" r:id="rId12"/>
    <p:sldId id="267" r:id="rId13"/>
    <p:sldId id="269" r:id="rId15"/>
    <p:sldId id="270" r:id="rId16"/>
    <p:sldId id="271" r:id="rId17"/>
    <p:sldId id="272" r:id="rId18"/>
    <p:sldId id="273" r:id="rId19"/>
    <p:sldId id="282" r:id="rId28"/>
    <p:sldId id="275" r:id="rId21"/>
    <p:sldId id="277" r:id="rId23"/>
    <p:sldId id="276" r:id="rId22"/>
    <p:sldId id="278" r:id="rId24"/>
    <p:sldId id="279" r:id="rId25"/>
    <p:sldId id="281" r:id="rId27"/>
    <p:sldId id="283" r:id="rId29"/>
    <p:sldId id="284" r:id="rId30"/>
    <p:sldId id="290" r:id="rId36"/>
    <p:sldId id="285" r:id="rId31"/>
    <p:sldId id="287" r:id="rId33"/>
    <p:sldId id="289" r:id="rId35"/>
    <p:sldId id="288" r:id="rId34"/>
    <p:sldId id="291" r:id="rId37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5" r:id="rId61"/>
    <p:sldId id="316" r:id="rId62"/>
    <p:sldId id="317" r:id="rId63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80"/>
  </p:sldIdLst>
  <p:notesMasterIdLst>
    <p:notesMasterId r:id="rId7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>
    <p:present/>
    <p:sldAll/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5" Type="http://schemas.openxmlformats.org/officeDocument/2006/relationships/notesMaster" Target="notesMasters/notesMaster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80" Type="http://schemas.openxmlformats.org/officeDocument/2006/relationships/slide" Target="slides/slide71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TEMPLATE: Home &gt; New Slide (arrow) and pick a layout. Fill the placeholders; the styling is built in. Photo and rendering placeholders crop to fill (Picture Format &gt; Crop to adjust the framing). Logo and QR placeholders fit the image without cropping. Every layout has a hidden title placeholder off the slide edge (Home &gt; Select &gt; Selection Pane) so screen reader users can navigate by slide title; give each slide a unique one. Montserrat must be installed on the presenting laptop, or embed fonts when you save (File &gt; Options &gt; Save &gt; Embed fonts). This loop auto-advances every 8 seconds and repeats until Esc (Transitions tab to change timing; Slide Show &gt; Set Up Slide Show to change looping).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1933, one of Envision’s first patrons; label from Laura. Source photo: patron_1933.png.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broom-making workshop in the 1940s; label from Laura. Source photo: 514729028_24370021999262725_6241323963255478700_n.jpg.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Presenting sponsor slide. The HighTouch logo is placed; replace with the official file if a newer version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program participant and her family in the 1940s. Source photo: family_1940s.png.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a dance put on by Envision in the 1950s; label from Laura. Source photo: dance_1950s.png.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514526513_24360271056904486_8424275321534355461_n.jpg.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caption: PRIDE program at Botanica in 1992. Source photo: 514399319_24370451429219782_5553540867382418124_n.jpg.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199x). Source photo: img-007.png.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photo from the PDF Laura sent; the PDF export carried no notes, year read from the print’s date stamp where one exists, otherwise a decade estimate; confirm; piano beneath the older Envision banner. Source photo: img-016.png.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1999). Source photo: img-005.png.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img-000.png, img-017.png.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img-001.png.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img-008.png, img-009.png.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img-006.png.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img-011.png.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(stamp reads 8 10 01). Source photo: img-013.png.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img-014.png.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photos: img-015.png, img-019.png.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spread across 2000 to 2005 at Laura’s direction; not from a dated record. Source photo: img-018.png.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Logos here are low-resolution cutouts from the sponsor thank-you graphic, placed so the loop runs complete. Replace each with the official logo file: right-click the logo &gt; Change Picture (the white card fits it without cropping). Set the tier label to the sponsor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photos from the PDF Laura sent; the PDF export carried no notes, year read from the print’s date stamp where one exists, otherwise a decade estimate; confirm (both stamped AUG 8 2004). Source photos: img-004.png, img-020.png.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scan0004_01a.jpg, scan0004_00b.jpg.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scan0014_00b.jpg.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scan0014_01a.jpg.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scan0015_00b.jpg.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scan0004_00a.jpg, scan0015_00a.jpg.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scan0014_00a.jpg.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photos: scan0015_01a.jpg, scan0015_01b.jpg.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scan0004_01b.jpg.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Heather’s Camp 2007, confirmed by Laura. Source photo: scan0014_01b.jpg.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posts dated July 9, 2010. Source photos: playground_2010.png, indoor_play_2010.png.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posts dated May 16 and August 18, 2014; Adah per Laura. Source photos: girl_cane_2014.png, 514102732_24347428004855458_8712718144461110952_n.jpg.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confirm. Source photo: 505086650_24180749884856605_1969040299231642078_n.jpg.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program name not confirmed. Source photo: 514356143_24365277619737163_4572300578063408220_n.jpg.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31, 2015; camp name not confirmed. Source photo: 515508522_24372597575671834_6507375247130789716_n.jpg.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program name not confirmed. Source photo: 515264128_24392120943719497_1144878044891021107_n.jpg.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program name not confirmed. Source photos: bicknell_group.png, art_table.png.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October 13, 2016; Laura confirms the photos are from 2015; Adah per Laura, program name not confirmed. Source photo: 515496848_24392121030386155_4959498615936162370_n.jpg.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decade is an estimate; confirm. Source photos: 516307629_24404475582484033_4077145122123939934_n.jpg, 514398054_24407351508863107_4640940189281080079_n.jpg.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February 27, 2017. Source photo: 515666041_24396518596613065_9163789206916333567_n.jpg.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photos: 36679840_1977772592247652_8857339367518109696_n.jpg, 36720032_1977770692247842_8607756704823640064_n.jpg.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program name not confirmed. Source photo: 39468117_2048172925207618_3198537865604628480_n.jpg.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year from Facebook upload timing; event name not confirmed. Source photo: 56781124_2401507159874191_4435377701120901120_n.jpg.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December 4, 2020; names per Laura. Source photo: weseeclearly.png.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group photo uploaded February 2020; the close-up was reposted March 30, 2021; confirm. Source photos: 87270349_3040969335927967_4814775488343965696_n.jpg, bowling_kid.png.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30, 2021. Source photo: falcons2021.png.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21, 2022; Adah per Laura. Source photo: adah_2022.png.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July 19, 2022; Hashim per Laura. Source photo: hashim_2022.png. Photos already carry the sepia treatment; to swap one, right-click it &gt; Change Picture. The dark scrim over the bottom of the photo is a separate object on this slide; duplicate this slide rather than inserting a fresh one so it comes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phone camera timestamp; event name not confirmed. Source photo: 20220829_195341.jpg.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Facebook post dated June 27, 2024; Kennick per Laura. Source photo: kennick_2024.png.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August 1, 2024 (Heather’s Camp); now: Level Up 2026 photo from Laura. Source photos: 482091992_1036613011835564_1782698059698200373_n.jpg, Aubree_Calvert.jpg.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December 29, 2011; now: high school graduation 2026 per Laura. Source photos: adah_2011.png, 705968911_122313865370027018_2361427042434269514_n.jpg.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 basis: then: Facebook post dated October 13, 2016; Laura confirms the photos are from 2015; now: Wichita State graduation 2026. Source photos: boy_painting.png, hashim_grad_2026.jpg. Photos already carry the sepia treatment; to swap one, right-click it &gt; Change Picture.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4" Type="http://schemas.openxmlformats.org/officeDocument/2006/relationships/image" Target="../media/image-1002-4.png"/><Relationship Id="rId5" Type="http://schemas.openxmlformats.org/officeDocument/2006/relationships/image" Target="../media/Welcome-(lockup)-image-5.jpeg"/><Relationship Id="rId6" Type="http://schemas.openxmlformats.org/officeDocument/2006/relationships/slideMaster" Target="../slideMasters/slideMaster1.xml"/><Relationship Id="rId7" Type="http://schemas.openxmlformats.org/officeDocument/2006/relationships/image" Target="../media/cover_bg.png"/><Relationship Id="rId8" Type="http://schemas.openxmlformats.org/officeDocument/2006/relationships/image" Target="../media/welcome_script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7-1.png"/><Relationship Id="rId2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8-1.png"/><Relationship Id="rId2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4-1.png"/><Relationship Id="rId2" Type="http://schemas.openxmlformats.org/officeDocument/2006/relationships/image" Target="../media/image-1024-2.png"/><Relationship Id="rId3" Type="http://schemas.openxmlformats.org/officeDocument/2006/relationships/image" Target="../media/image-1024-3.png"/><Relationship Id="rId4" Type="http://schemas.openxmlformats.org/officeDocument/2006/relationships/image" Target="../media/Thank-you-image-4.jpe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lcome (lockup)"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</a:t>
            </a:r>
            <a:endParaRPr lang="en-US" sz="1800" dirty="0"/>
          </a:p>
        </p:txBody>
      </p:sp>
      <p:pic>
        <p:nvPicPr>
          <p:cNvPr id="3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5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pic>
        <p:nvPicPr>
          <p:cNvPr id="9003" name="Welcome script" descr="Welcome, in white scrip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208" y="320040"/>
            <a:ext cx="5669280" cy="3081130"/>
          </a:xfrm>
          <a:prstGeom prst="rect">
            <a:avLst/>
          </a:prstGeom>
        </p:spPr>
      </p:pic>
      <p:sp>
        <p:nvSpPr>
          <p:cNvPr id="9004" name="To"/>
          <p:cNvSpPr txBox="1"/>
          <p:nvPr/>
        </p:nvSpPr>
        <p:spPr>
          <a:xfrm>
            <a:off x="731520" y="3364992"/>
            <a:ext cx="10728655" cy="310896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720" dirty="0">
                <a:solidFill>
                  <a:srgbClr val="FFFFFF"/>
                </a:solidFill>
                <a:latin typeface="Montserrat Light"/>
                <a:cs typeface="Montserrat Light"/>
              </a:rPr>
              <a:t>TO</a:t>
            </a:r>
          </a:p>
        </p:txBody>
      </p:sp>
      <p:sp>
        <p:nvSpPr>
          <p:cNvPr id="9005" name="A Night For Vision"/>
          <p:cNvSpPr txBox="1"/>
          <p:nvPr/>
        </p:nvSpPr>
        <p:spPr>
          <a:xfrm>
            <a:off x="731520" y="3675888"/>
            <a:ext cx="10728655" cy="713232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600" b="1" spc="560" dirty="0">
                <a:solidFill>
                  <a:srgbClr val="FFFFFF"/>
                </a:solidFill>
                <a:latin typeface="Montserrat"/>
                <a:cs typeface="Montserrat"/>
              </a:rPr>
              <a:t>A NIGHT FOR VISION</a:t>
            </a:r>
          </a:p>
        </p:txBody>
      </p:sp>
      <p:sp>
        <p:nvSpPr>
          <p:cNvPr id="9006" name="Envision Gala"/>
          <p:cNvSpPr txBox="1"/>
          <p:nvPr/>
        </p:nvSpPr>
        <p:spPr>
          <a:xfrm>
            <a:off x="731520" y="4407408"/>
            <a:ext cx="10728655" cy="420624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000" b="0" spc="900" dirty="0">
                <a:solidFill>
                  <a:srgbClr val="FFFFFF"/>
                </a:solidFill>
                <a:latin typeface="Montserrat"/>
                <a:cs typeface="Montserrat"/>
              </a:rPr>
              <a:t>ENVISION GALA</a:t>
            </a:r>
          </a:p>
        </p:txBody>
      </p:sp>
      <p:sp>
        <p:nvSpPr>
          <p:cNvPr id="9007" name="Decorative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49928" y="5029200"/>
            <a:ext cx="3291840" cy="18288"/>
          </a:xfrm>
          <a:prstGeom prst="rect">
            <a:avLst/>
          </a:prstGeom>
          <a:solidFill>
            <a:srgbClr val="6E0F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08" name="Tagline"/>
          <p:cNvSpPr txBox="1"/>
          <p:nvPr/>
        </p:nvSpPr>
        <p:spPr>
          <a:xfrm>
            <a:off x="731520" y="5230368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YOUR SUPPORT HELPS MAKE</a:t>
            </a:r>
          </a:p>
          <a:p>
            <a:pPr algn="ctr"/>
            <a:r>
              <a:rPr lang="en-US" sz="2400" b="0" spc="840" dirty="0">
                <a:solidFill>
                  <a:srgbClr val="FFFFFF"/>
                </a:solidFill>
                <a:latin typeface="Montserrat Light"/>
                <a:cs typeface="Montserrat Light"/>
              </a:rPr>
              <a:t>OUR MISSION POSSIBLE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 phot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year and event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6803136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wo portrait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two portraits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4192524" y="777240"/>
            <a:ext cx="3186684" cy="4617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6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full bleed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full bleed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24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split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split</a:t>
            </a:r>
            <a:endParaRPr lang="en-US" sz="1800" dirty="0"/>
          </a:p>
        </p:txBody>
      </p:sp>
      <p:sp>
        <p:nvSpPr>
          <p:cNvPr id="7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7315200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5000"/>
              </a:lnSpc>
              <a:buNone/>
              <a:def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pair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Throwback: pair</a:t>
            </a:r>
            <a:endParaRPr lang="en-US" sz="1800" dirty="0"/>
          </a:p>
        </p:txBody>
      </p:sp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6245352" y="822960"/>
            <a:ext cx="5212080" cy="35387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5000"/>
              </a:lnSpc>
              <a:buNone/>
              <a:def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EVENT OR LOCATION</a:t>
            </a:r>
            <a:endParaRPr lang="en-US" sz="2200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Year</a:t>
            </a:r>
            <a:endParaRPr lang="en-US" sz="7200" dirty="0"/>
          </a:p>
        </p:txBody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owback: then and now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Then and now</a:t>
            </a:r>
            <a:endParaRPr lang="en-US" sz="1800" dirty="0"/>
          </a:p>
        </p:txBody>
      </p:sp>
      <p:sp>
        <p:nvSpPr>
          <p:cNvPr id="11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ctr" indent="0" marL="0">
              <a:buNone/>
              <a:def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NAME</a:t>
            </a:r>
            <a:endParaRPr lang="en-US" sz="2600" dirty="0"/>
          </a:p>
        </p:txBody>
      </p:sp>
      <p:sp>
        <p:nvSpPr>
          <p:cNvPr id="4" name="Text 0"/>
          <p:cNvSpPr txBox="1"/>
          <p:nvPr>
            <p:ph type="pic" idx="102" hasCustomPrompt="1"/>
          </p:nvPr>
        </p:nvSpPr>
        <p:spPr>
          <a:xfrm>
            <a:off x="2411273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5" name="Text 0"/>
          <p:cNvSpPr txBox="1"/>
          <p:nvPr>
            <p:ph type="pic" idx="103" hasCustomPrompt="1"/>
          </p:nvPr>
        </p:nvSpPr>
        <p:spPr>
          <a:xfrm>
            <a:off x="6919265" y="868680"/>
            <a:ext cx="2858414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Photo</a:t>
            </a:r>
            <a:endParaRPr lang="en-US" dirty="0"/>
          </a:p>
        </p:txBody>
      </p:sp>
      <p:sp>
        <p:nvSpPr>
          <p:cNvPr id="6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l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</a:t>
            </a:r>
            <a:endParaRPr lang="en-US" sz="5400" dirty="0"/>
          </a:p>
        </p:txBody>
      </p:sp>
      <p:sp>
        <p:nvSpPr>
          <p:cNvPr id="7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l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THEN LABEL</a:t>
            </a:r>
            <a:endParaRPr lang="en-US" sz="20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algn="r" indent="0" marL="0">
              <a:buNone/>
              <a:def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</a:t>
            </a:r>
            <a:endParaRPr lang="en-US" sz="5400" dirty="0"/>
          </a:p>
        </p:txBody>
      </p:sp>
      <p:pic>
        <p:nvPicPr>
          <p:cNvPr id="9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065776"/>
            <a:ext cx="164592" cy="164592"/>
          </a:xfrm>
          <a:prstGeom prst="rect">
            <a:avLst/>
          </a:prstGeom>
        </p:spPr>
      </p:pic>
      <p:sp>
        <p:nvSpPr>
          <p:cNvPr id="10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algn="r" indent="0" marL="0">
              <a:lnSpc>
                <a:spcPct val="110000"/>
              </a:lnSpc>
              <a:buNone/>
              <a:def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NOW LABEL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ter Street render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Water Street rendering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0" y="0"/>
            <a:ext cx="12191695" cy="5669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Rendering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57150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430" kern="0" dirty="0">
                <a:solidFill>
                  <a:srgbClr val="E4002B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FUTURE</a:t>
            </a:r>
            <a:endParaRPr lang="en-US" sz="24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3474720" y="5715000"/>
            <a:ext cx="7982712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indent="0" marL="0">
              <a:buNone/>
              <a:def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spc="3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WATER STREET CAMPUS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present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one logo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</a:t>
            </a:r>
            <a:endParaRPr lang="en-US" sz="28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wo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6" name="Text 2"/>
          <p:cNvSpPr txBox="1"/>
          <p:nvPr>
            <p:ph type="body" idx="104" hasCustomPrompt="1"/>
          </p:nvPr>
        </p:nvSpPr>
        <p:spPr>
          <a:xfrm>
            <a:off x="1280160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7" name="Text 2"/>
          <p:cNvSpPr txBox="1"/>
          <p:nvPr>
            <p:ph type="body" idx="105" hasCustomPrompt="1"/>
          </p:nvPr>
        </p:nvSpPr>
        <p:spPr>
          <a:xfrm>
            <a:off x="6702552" y="2194560"/>
            <a:ext cx="420624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four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8" name="Text 4"/>
          <p:cNvSpPr txBox="1"/>
          <p:nvPr>
            <p:ph type="body" idx="106" hasCustomPrompt="1"/>
          </p:nvPr>
        </p:nvSpPr>
        <p:spPr>
          <a:xfrm>
            <a:off x="1188720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4"/>
          <p:cNvSpPr txBox="1"/>
          <p:nvPr>
            <p:ph type="body" idx="107" hasCustomPrompt="1"/>
          </p:nvPr>
        </p:nvSpPr>
        <p:spPr>
          <a:xfrm>
            <a:off x="6611112" y="173736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0" name="Text 4"/>
          <p:cNvSpPr txBox="1"/>
          <p:nvPr>
            <p:ph type="body" idx="108" hasCustomPrompt="1"/>
          </p:nvPr>
        </p:nvSpPr>
        <p:spPr>
          <a:xfrm>
            <a:off x="1188720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4"/>
          <p:cNvSpPr txBox="1"/>
          <p:nvPr>
            <p:ph type="body" idx="109" hasCustomPrompt="1"/>
          </p:nvPr>
        </p:nvSpPr>
        <p:spPr>
          <a:xfrm>
            <a:off x="6611112" y="4069080"/>
            <a:ext cx="43891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six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0" name="Text 6"/>
          <p:cNvSpPr txBox="1"/>
          <p:nvPr>
            <p:ph type="body" idx="108" hasCustomPrompt="1"/>
          </p:nvPr>
        </p:nvSpPr>
        <p:spPr>
          <a:xfrm>
            <a:off x="1005840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1" name="Text 6"/>
          <p:cNvSpPr txBox="1"/>
          <p:nvPr>
            <p:ph type="body" idx="109" hasCustomPrompt="1"/>
          </p:nvPr>
        </p:nvSpPr>
        <p:spPr>
          <a:xfrm>
            <a:off x="4681728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2" name="Text 6"/>
          <p:cNvSpPr txBox="1"/>
          <p:nvPr>
            <p:ph type="body" idx="110" hasCustomPrompt="1"/>
          </p:nvPr>
        </p:nvSpPr>
        <p:spPr>
          <a:xfrm>
            <a:off x="8348472" y="178308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3" name="Text 6"/>
          <p:cNvSpPr txBox="1"/>
          <p:nvPr>
            <p:ph type="body" idx="111" hasCustomPrompt="1"/>
          </p:nvPr>
        </p:nvSpPr>
        <p:spPr>
          <a:xfrm>
            <a:off x="1005840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6"/>
          <p:cNvSpPr txBox="1"/>
          <p:nvPr>
            <p:ph type="body" idx="112" hasCustomPrompt="1"/>
          </p:nvPr>
        </p:nvSpPr>
        <p:spPr>
          <a:xfrm>
            <a:off x="4681728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6"/>
          <p:cNvSpPr txBox="1"/>
          <p:nvPr>
            <p:ph type="body" idx="113" hasCustomPrompt="1"/>
          </p:nvPr>
        </p:nvSpPr>
        <p:spPr>
          <a:xfrm>
            <a:off x="8348472" y="4023360"/>
            <a:ext cx="28346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thre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7" name="Text 3"/>
          <p:cNvSpPr txBox="1"/>
          <p:nvPr>
            <p:ph type="body" idx="105" hasCustomPrompt="1"/>
          </p:nvPr>
        </p:nvSpPr>
        <p:spPr>
          <a:xfrm>
            <a:off x="1005840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8" name="Text 3"/>
          <p:cNvSpPr txBox="1"/>
          <p:nvPr>
            <p:ph type="body" idx="106" hasCustomPrompt="1"/>
          </p:nvPr>
        </p:nvSpPr>
        <p:spPr>
          <a:xfrm>
            <a:off x="4681728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" name="Text 3"/>
          <p:cNvSpPr txBox="1"/>
          <p:nvPr>
            <p:ph type="body" idx="107" hasCustomPrompt="1"/>
          </p:nvPr>
        </p:nvSpPr>
        <p:spPr>
          <a:xfrm>
            <a:off x="8348472" y="2286000"/>
            <a:ext cx="28346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onsor: nine logos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TIER SPONSORS</a:t>
            </a:r>
            <a:endParaRPr lang="en-US" sz="2800" dirty="0"/>
          </a:p>
        </p:txBody>
      </p:sp>
      <p:sp>
        <p:nvSpPr>
          <p:cNvPr id="13" name="Text 9"/>
          <p:cNvSpPr txBox="1"/>
          <p:nvPr>
            <p:ph type="body" idx="111" hasCustomPrompt="1"/>
          </p:nvPr>
        </p:nvSpPr>
        <p:spPr>
          <a:xfrm>
            <a:off x="960120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4" name="Text 9"/>
          <p:cNvSpPr txBox="1"/>
          <p:nvPr>
            <p:ph type="body" idx="112" hasCustomPrompt="1"/>
          </p:nvPr>
        </p:nvSpPr>
        <p:spPr>
          <a:xfrm>
            <a:off x="4636008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5" name="Text 9"/>
          <p:cNvSpPr txBox="1"/>
          <p:nvPr>
            <p:ph type="body" idx="113" hasCustomPrompt="1"/>
          </p:nvPr>
        </p:nvSpPr>
        <p:spPr>
          <a:xfrm>
            <a:off x="8302752" y="16002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6" name="Text 9"/>
          <p:cNvSpPr txBox="1"/>
          <p:nvPr>
            <p:ph type="body" idx="114" hasCustomPrompt="1"/>
          </p:nvPr>
        </p:nvSpPr>
        <p:spPr>
          <a:xfrm>
            <a:off x="960120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7" name="Text 9"/>
          <p:cNvSpPr txBox="1"/>
          <p:nvPr>
            <p:ph type="body" idx="115" hasCustomPrompt="1"/>
          </p:nvPr>
        </p:nvSpPr>
        <p:spPr>
          <a:xfrm>
            <a:off x="4636008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8" name="Text 9"/>
          <p:cNvSpPr txBox="1"/>
          <p:nvPr>
            <p:ph type="body" idx="116" hasCustomPrompt="1"/>
          </p:nvPr>
        </p:nvSpPr>
        <p:spPr>
          <a:xfrm>
            <a:off x="8302752" y="32004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19" name="Text 9"/>
          <p:cNvSpPr txBox="1"/>
          <p:nvPr>
            <p:ph type="body" idx="117" hasCustomPrompt="1"/>
          </p:nvPr>
        </p:nvSpPr>
        <p:spPr>
          <a:xfrm>
            <a:off x="960120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0" name="Text 9"/>
          <p:cNvSpPr txBox="1"/>
          <p:nvPr>
            <p:ph type="body" idx="118" hasCustomPrompt="1"/>
          </p:nvPr>
        </p:nvSpPr>
        <p:spPr>
          <a:xfrm>
            <a:off x="4636008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21" name="Text 9"/>
          <p:cNvSpPr txBox="1"/>
          <p:nvPr>
            <p:ph type="body" idx="119" hasCustomPrompt="1"/>
          </p:nvPr>
        </p:nvSpPr>
        <p:spPr>
          <a:xfrm>
            <a:off x="8302752" y="4800600"/>
            <a:ext cx="292608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logo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(one line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251460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600" spc="10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SECTION TITLE</a:t>
            </a:r>
            <a:endParaRPr lang="en-US" sz="46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84048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5624" y="37810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371600" y="4114800"/>
            <a:ext cx="944849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second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gram (title and lines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731520" y="6858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spc="132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TONIGHT</a:t>
            </a:r>
            <a:endParaRPr lang="en-US" sz="4400" dirty="0"/>
          </a:p>
        </p:txBody>
      </p:sp>
      <p:sp>
        <p:nvSpPr>
          <p:cNvPr id="3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83080"/>
            <a:ext cx="468172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0096" y="1723644"/>
            <a:ext cx="146304" cy="146304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731520" y="2194560"/>
            <a:ext cx="10728655" cy="4114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50000"/>
              </a:lnSpc>
              <a:buNone/>
              <a:def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5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Program lines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with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pic" idx="101" hasCustomPrompt="1"/>
          </p:nvPr>
        </p:nvSpPr>
        <p:spPr>
          <a:xfrm>
            <a:off x="731520" y="1234440"/>
            <a:ext cx="3566160" cy="4389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Headshot</a:t>
            </a:r>
            <a:endParaRPr lang="en-US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4846320" y="233172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4800" dirty="0"/>
          </a:p>
        </p:txBody>
      </p:sp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4846320" y="3611880"/>
            <a:ext cx="66138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eaker (no headshot)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2286000"/>
            <a:ext cx="1072865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Speaker name</a:t>
            </a:r>
            <a:endParaRPr lang="en-US" sz="5400" dirty="0"/>
          </a:p>
        </p:txBody>
      </p:sp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spc="34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TITLE OR ROLE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title card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914400" y="1737360"/>
            <a:ext cx="10362895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05000"/>
              </a:lnSpc>
              <a:buNone/>
              <a:def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lnSpc>
                <a:spcPct val="105000"/>
              </a:lnSpc>
              <a:buNone/>
            </a:pPr>
            <a:r>
              <a:rPr lang="en-US" sz="5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Video title</a:t>
            </a:r>
            <a:endParaRPr lang="en-US" sz="54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1371600" y="3977640"/>
            <a:ext cx="94484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0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One-line setup for the emcee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d-A-Need level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 level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FUND-A-NEED</a:t>
            </a:r>
            <a:endParaRPr lang="en-US" sz="2800" dirty="0"/>
          </a:p>
        </p:txBody>
      </p:sp>
      <p:sp>
        <p:nvSpPr>
          <p:cNvPr id="4" name="Decorative level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965960"/>
            <a:ext cx="6949440" cy="1600200"/>
          </a:xfrm>
          <a:prstGeom prst="rect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1051560" y="1965960"/>
            <a:ext cx="6309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$0,000</a:t>
            </a:r>
            <a:endParaRPr lang="en-US" sz="8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3931920"/>
            <a:ext cx="10728655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25000"/>
              </a:lnSpc>
              <a:buNone/>
              <a:def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 gift at this level makes possible</a:t>
            </a:r>
            <a:endParaRPr lang="en-US" sz="3200" dirty="0"/>
          </a:p>
        </p:txBody>
      </p:sp>
      <p:sp>
        <p:nvSpPr>
          <p:cNvPr id="7" name="Text 1"/>
          <p:cNvSpPr txBox="1"/>
          <p:nvPr>
            <p:ph type="body" idx="105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indent="0" marL="0">
              <a:buNone/>
            </a:pPr>
            <a:r>
              <a:rPr lang="en-US" sz="2400" spc="29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ALL LEVELS</a:t>
            </a:r>
            <a:endParaRPr lang="en-US" sz="24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ction or mobile bidding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body" idx="100" hasCustomPrompt="1"/>
          </p:nvPr>
        </p:nvSpPr>
        <p:spPr>
          <a:xfrm>
            <a:off x="731520" y="731520"/>
            <a:ext cx="10728655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MOBILE BIDDING</a:t>
            </a:r>
            <a:endParaRPr lang="en-US" sz="2800" dirty="0"/>
          </a:p>
        </p:txBody>
      </p:sp>
      <p:sp>
        <p:nvSpPr>
          <p:cNvPr id="3" name="Text 0"/>
          <p:cNvSpPr txBox="1"/>
          <p:nvPr>
            <p:ph type="title" idx="101" hasCustomPrompt="1"/>
          </p:nvPr>
        </p:nvSpPr>
        <p:spPr>
          <a:xfrm>
            <a:off x="731520" y="1371600"/>
            <a:ext cx="1072865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Bidding closes at 0:00 PM</a:t>
            </a:r>
            <a:endParaRPr lang="en-US" sz="4400" dirty="0"/>
          </a:p>
        </p:txBody>
      </p:sp>
      <p:sp>
        <p:nvSpPr>
          <p:cNvPr id="5" name="Text 1"/>
          <p:cNvSpPr txBox="1"/>
          <p:nvPr>
            <p:ph type="body" idx="103" hasCustomPrompt="1"/>
          </p:nvPr>
        </p:nvSpPr>
        <p:spPr>
          <a:xfrm>
            <a:off x="4815688" y="2788920"/>
            <a:ext cx="256032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800" dirty="0">
                <a:solidFill>
                  <a:srgbClr val="6E6E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Click the icon to add the QR code</a:t>
            </a:r>
            <a:endParaRPr lang="en-US" sz="1800" dirty="0"/>
          </a:p>
        </p:txBody>
      </p:sp>
      <p:sp>
        <p:nvSpPr>
          <p:cNvPr id="6" name="Text 1"/>
          <p:cNvSpPr txBox="1"/>
          <p:nvPr>
            <p:ph type="body" idx="104" hasCustomPrompt="1"/>
          </p:nvPr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EveningWithEnvision.com</a:t>
            </a:r>
            <a:endParaRPr lang="en-US" sz="3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vision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6928"/>
            <a:ext cx="2377440" cy="476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85455" y="502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spc="32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PRESENTED BY</a:t>
            </a:r>
            <a:endParaRPr lang="en-US" sz="1800" dirty="0"/>
          </a:p>
        </p:txBody>
      </p:sp>
      <p:pic>
        <p:nvPicPr>
          <p:cNvPr id="4" name="Image 1" descr="HighTouch Technologies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822960"/>
            <a:ext cx="2011680" cy="483731"/>
          </a:xfrm>
          <a:prstGeom prst="rect">
            <a:avLst/>
          </a:prstGeom>
        </p:spPr>
      </p:pic>
      <p:sp>
        <p:nvSpPr>
          <p:cNvPr id="5" name="Text 1"/>
          <p:cNvSpPr txBox="1"/>
          <p:nvPr>
            <p:ph type="title" idx="103" hasCustomPrompt="1"/>
          </p:nvPr>
        </p:nvSpPr>
        <p:spPr>
          <a:xfrm>
            <a:off x="731520" y="2240280"/>
            <a:ext cx="10728655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7200" spc="216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Decorative cane 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9768" y="3794760"/>
            <a:ext cx="5779008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624" y="3735324"/>
            <a:ext cx="146304" cy="146304"/>
          </a:xfrm>
          <a:prstGeom prst="rect">
            <a:avLst/>
          </a:prstGeom>
        </p:spPr>
      </p:pic>
      <p:sp>
        <p:nvSpPr>
          <p:cNvPr id="8" name="Text 2"/>
          <p:cNvSpPr txBox="1"/>
          <p:nvPr>
            <p:ph type="body" idx="106" hasCustomPrompt="1"/>
          </p:nvPr>
        </p:nvSpPr>
        <p:spPr>
          <a:xfrm>
            <a:off x="1371600" y="4114800"/>
            <a:ext cx="944849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lnSpc>
                <a:spcPct val="125000"/>
              </a:lnSpc>
              <a:buNone/>
              <a:def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defRPr>
            </a:lvl1pPr>
          </a:lstStyle>
          <a:p>
            <a:pPr algn="ctr"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C9C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Closing line</a:t>
            </a:r>
            <a:endParaRPr lang="en-US" sz="2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4" Type="http://schemas.openxmlformats.org/officeDocument/2006/relationships/slideLayout" Target="../slideLayouts/slideLayout15.xml"/><Relationship Id="rId5" Type="http://schemas.openxmlformats.org/officeDocument/2006/relationships/notesSlide" Target="../notesSlides/notesSlide10.xml"/><Relationship Id="rId6" Type="http://schemas.openxmlformats.org/officeDocument/2006/relationships/image" Target="../media/logo_allen_exploration.png"/><Relationship Id="rId7" Type="http://schemas.openxmlformats.org/officeDocument/2006/relationships/image" Target="../media/logo_lc_industries_foundation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6.xml"/><Relationship Id="rId4" Type="http://schemas.openxmlformats.org/officeDocument/2006/relationships/image" Target="../media/logo_forvis_mazars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2.xml"/><Relationship Id="rId7" Type="http://schemas.openxmlformats.org/officeDocument/2006/relationships/image" Target="../media/logo_6_meridian.png"/><Relationship Id="rId8" Type="http://schemas.openxmlformats.org/officeDocument/2006/relationships/image" Target="../media/logo_ima.png"/><Relationship Id="rId9" Type="http://schemas.openxmlformats.org/officeDocument/2006/relationships/image" Target="../media/logo_hutton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g"/><Relationship Id="rId2" Type="http://schemas.openxmlformats.org/officeDocument/2006/relationships/image" Target="../media/image-3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0" Type="http://schemas.openxmlformats.org/officeDocument/2006/relationships/slideLayout" Target="../slideLayouts/slideLayout16.xml"/><Relationship Id="rId11" Type="http://schemas.openxmlformats.org/officeDocument/2006/relationships/notesSlide" Target="../notesSlides/notesSlide34.xml"/><Relationship Id="rId12" Type="http://schemas.openxmlformats.org/officeDocument/2006/relationships/image" Target="../media/logo_ads.png"/><Relationship Id="rId13" Type="http://schemas.openxmlformats.org/officeDocument/2006/relationships/image" Target="../media/logo_corza_medical.png"/><Relationship Id="rId14" Type="http://schemas.openxmlformats.org/officeDocument/2006/relationships/image" Target="../media/logo_arsi.png"/><Relationship Id="rId15" Type="http://schemas.openxmlformats.org/officeDocument/2006/relationships/image" Target="../media/logo_eby.png"/><Relationship Id="rId16" Type="http://schemas.openxmlformats.org/officeDocument/2006/relationships/image" Target="../media/logo_belleville.png"/><Relationship Id="rId17" Type="http://schemas.openxmlformats.org/officeDocument/2006/relationships/image" Target="../media/logo_enza_financial.png"/><Relationship Id="rId18" Type="http://schemas.openxmlformats.org/officeDocument/2006/relationships/image" Target="../media/logo_massif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jpg"/><Relationship Id="rId2" Type="http://schemas.openxmlformats.org/officeDocument/2006/relationships/image" Target="../media/image-35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jpg"/><Relationship Id="rId2" Type="http://schemas.openxmlformats.org/officeDocument/2006/relationships/image" Target="../media/image-3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jp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jpg"/><Relationship Id="rId2" Type="http://schemas.openxmlformats.org/officeDocument/2006/relationships/image" Target="../media/image-4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jp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jpg"/><Relationship Id="rId2" Type="http://schemas.openxmlformats.org/officeDocument/2006/relationships/image" Target="../media/image-43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jpg"/><Relationship Id="rId2" Type="http://schemas.openxmlformats.org/officeDocument/2006/relationships/image" Target="../media/image-4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g"/><Relationship Id="rId2" Type="http://schemas.openxmlformats.org/officeDocument/2006/relationships/image" Target="../media/image-47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image" Target="../media/image-4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jp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jpg"/><Relationship Id="rId2" Type="http://schemas.openxmlformats.org/officeDocument/2006/relationships/image" Target="../media/image-52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image" Target="../media/image-5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jpg"/><Relationship Id="rId2" Type="http://schemas.openxmlformats.org/officeDocument/2006/relationships/image" Target="../media/image-54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g"/><Relationship Id="rId2" Type="http://schemas.openxmlformats.org/officeDocument/2006/relationships/image" Target="../media/image-56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image" Target="../media/image-5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jpg"/><Relationship Id="rId2" Type="http://schemas.openxmlformats.org/officeDocument/2006/relationships/image" Target="../media/image-61-2.jp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jp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image" Target="../media/image-6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jpg"/><Relationship Id="rId2" Type="http://schemas.openxmlformats.org/officeDocument/2006/relationships/image" Target="../media/image-68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jpg"/><Relationship Id="rId2" Type="http://schemas.openxmlformats.org/officeDocument/2006/relationships/image" Target="../media/image-69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jpg"/><Relationship Id="rId2" Type="http://schemas.openxmlformats.org/officeDocument/2006/relationships/image" Target="../media/image-70-2.jp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0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-4-1.png"/><Relationship Id="rId3" Type="http://schemas.openxmlformats.org/officeDocument/2006/relationships/image" Target="../media/logo_forvis_mazars.png"/><Relationship Id="rId4" Type="http://schemas.openxmlformats.org/officeDocument/2006/relationships/image" Target="../media/logo_allen_exploration.png"/><Relationship Id="rId5" Type="http://schemas.openxmlformats.org/officeDocument/2006/relationships/image" Target="../media/logo_6_meridian.png"/><Relationship Id="rId6" Type="http://schemas.openxmlformats.org/officeDocument/2006/relationships/image" Target="../media/logo_ads.png"/><Relationship Id="rId7" Type="http://schemas.openxmlformats.org/officeDocument/2006/relationships/image" Target="../media/logo_corza_medical.png"/><Relationship Id="rId8" Type="http://schemas.openxmlformats.org/officeDocument/2006/relationships/image" Target="../media/logo_arsi.png"/><Relationship Id="rId9" Type="http://schemas.openxmlformats.org/officeDocument/2006/relationships/image" Target="../media/logo_eby.png"/><Relationship Id="rId10" Type="http://schemas.openxmlformats.org/officeDocument/2006/relationships/image" Target="../media/logo_belleville.png"/><Relationship Id="rId11" Type="http://schemas.openxmlformats.org/officeDocument/2006/relationships/image" Target="../media/logo_lc_industries_foundation.png"/><Relationship Id="rId12" Type="http://schemas.openxmlformats.org/officeDocument/2006/relationships/image" Target="../media/logo_ima.png"/><Relationship Id="rId13" Type="http://schemas.openxmlformats.org/officeDocument/2006/relationships/image" Target="../media/logo_hutton.png"/><Relationship Id="rId14" Type="http://schemas.openxmlformats.org/officeDocument/2006/relationships/image" Target="../media/logo_enza_financial.png"/><Relationship Id="rId15" Type="http://schemas.openxmlformats.org/officeDocument/2006/relationships/image" Target="../media/logo_massif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Welcome to A Night For Vision</a:t>
            </a:r>
            <a:endParaRPr lang="en-US" sz="1800" dirty="0"/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1: 1933, FIRST PROGRAM PARTICIPANT</a:t>
            </a:r>
            <a:endParaRPr lang="en-US" sz="1800" dirty="0"/>
          </a:p>
        </p:txBody>
      </p:sp>
      <p:pic>
        <p:nvPicPr>
          <p:cNvPr id="3" name="Image 0" descr="Black and white studio portrait of a woman in a dark dress standing with her guide do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1933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FIRST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2: 1940s, EMPLOYMENT PROGRAM PARTICIPANT</a:t>
            </a:r>
            <a:endParaRPr lang="en-US" sz="1800" dirty="0"/>
          </a:p>
        </p:txBody>
      </p:sp>
      <p:pic>
        <p:nvPicPr>
          <p:cNvPr id="3" name="Image 0" descr="Archival photo: a man in a cap and apron works a broom-making machine while five visitors in 1940s suits and dresses watch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 HighTouch Technologies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PRESENTING SPONSOR</a:t>
            </a:r>
            <a:endParaRPr lang="en-US" sz="2800" dirty="0"/>
          </a:p>
        </p:txBody>
      </p:sp>
      <p:pic>
        <p:nvPicPr>
          <p:cNvPr id="4" name="Image 0" descr="HighTouch Technologies logo">    </p:cNvPr>
          <p:cNvPicPr>
            <a:picLocks noChangeAspect="1"/>
          </p:cNvPicPr>
          <p:nvPr>
            <p:ph type="body" idx="103" hasCustomPrompt="1"/>
          </p:nvPr>
        </p:nvPicPr>
        <p:blipFill>
          <a:blip r:embed="rId1"/>
          <a:stretch>
            <a:fillRect/>
          </a:stretch>
        </p:blipFill>
        <p:spPr>
          <a:xfrm>
            <a:off x="3740993" y="2979070"/>
            <a:ext cx="4716109" cy="1082740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3: 1940s, PROGRAM PARTICIPANT AND FAMILY</a:t>
            </a:r>
            <a:endParaRPr lang="en-US" sz="1800" dirty="0"/>
          </a:p>
        </p:txBody>
      </p:sp>
      <p:pic>
        <p:nvPicPr>
          <p:cNvPr id="3" name="Image 0" descr="Archival photo: a mother and father hold a laughing baby beside a hous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1940s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 AND FAMILY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4: 1950s, PRIDE ENVISION PROGRAMS DANCE CLASS</a:t>
            </a:r>
            <a:endParaRPr lang="en-US" sz="1800" dirty="0"/>
          </a:p>
        </p:txBody>
      </p:sp>
      <p:pic>
        <p:nvPicPr>
          <p:cNvPr id="3" name="Image 0" descr="Archival photo: two couples dance in a curtained room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1950s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PRIDE ENVISION PROGRAMS DANCE CLASS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5: 1970s, EMPLOYMENT IN WICHITA</a:t>
            </a:r>
            <a:endParaRPr lang="en-US" sz="1800" dirty="0"/>
          </a:p>
        </p:txBody>
      </p:sp>
      <p:pic>
        <p:nvPicPr>
          <p:cNvPr id="3" name="Image 0" descr="Archival photo: a woman operates a drill press at a workbench in an Envision workshop, with a coworker at the next s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1970s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EMPLOYMENT IN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6: 1992, PRIDE PROGRAM AT BOTANICA</a:t>
            </a:r>
            <a:endParaRPr lang="en-US" sz="1800" dirty="0"/>
          </a:p>
        </p:txBody>
      </p:sp>
      <p:pic>
        <p:nvPicPr>
          <p:cNvPr id="3" name="Image 0" descr="Five people in a garden hold potted yellow flowers; two wear white sun hats and one holds a white can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PRIDE PROGRAM AT BOTANICA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CORPORATE SPONSORS</a:t>
            </a:r>
            <a:endParaRPr lang="en-US" sz="2800" dirty="0"/>
          </a:p>
        </p:txBody>
      </p:sp>
      <p:pic>
        <p:nvPicPr>
          <p:cNvPr id="9006" name="Allen Exploration logo" descr="Allen Exploration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2611" y="2868109"/>
            <a:ext cx="2381098" cy="847463"/>
          </a:xfrm>
          <a:prstGeom prst="rect">
            <a:avLst/>
          </a:prstGeom>
        </p:spPr>
      </p:pic>
      <p:sp>
        <p:nvSpPr>
          <p:cNvPr id="9004" name="SPR (name)"/>
          <p:cNvSpPr txBox="1"/>
          <p:nvPr/>
        </p:nvSpPr>
        <p:spPr>
          <a:xfrm>
            <a:off x="4681728" y="2423160"/>
            <a:ext cx="2834640" cy="17373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  <a:latin typeface="Montserrat Light"/>
                <a:cs typeface="Montserrat Light"/>
              </a:rPr>
              <a:t>SPR</a:t>
            </a:r>
          </a:p>
        </p:txBody>
      </p:sp>
      <p:pic>
        <p:nvPicPr>
          <p:cNvPr id="9007" name="LC Industries Foundation logo" descr="LC Industries Foundatio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5243" y="3047142"/>
            <a:ext cx="2381098" cy="489396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7: 1990s, PROGRAM PARTICIPANTS</a:t>
            </a:r>
            <a:endParaRPr lang="en-US" sz="1800" dirty="0"/>
          </a:p>
        </p:txBody>
      </p:sp>
      <p:pic>
        <p:nvPicPr>
          <p:cNvPr id="3" name="Image 0" descr="Two girls in glasses smile close together, one in a camp shir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8: 1990s, ENVISION PROGRAM PARTICIPANT</a:t>
            </a:r>
            <a:endParaRPr lang="en-US" sz="1800" dirty="0"/>
          </a:p>
        </p:txBody>
      </p:sp>
      <p:pic>
        <p:nvPicPr>
          <p:cNvPr id="3" name="Image 0" descr="A woman plays piano benea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9: 1999, PROGRAM PARTICIPANTS</a:t>
            </a:r>
            <a:endParaRPr lang="en-US" sz="1800" dirty="0"/>
          </a:p>
        </p:txBody>
      </p:sp>
      <p:pic>
        <p:nvPicPr>
          <p:cNvPr id="3" name="Image 0" descr="Two campers paddle a canoe through leafy wat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1999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10: 2000, HEATHER’S CAMP, DELTA GAMMA VOLUNTEERS</a:t>
            </a:r>
            <a:endParaRPr lang="en-US" sz="1800" dirty="0"/>
          </a:p>
        </p:txBody>
      </p:sp>
      <p:pic>
        <p:nvPicPr>
          <p:cNvPr id="3" name="Image 0" descr="Two camp counselors in green headbands smile close togeth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ree counselors in green headbands raise their arms and che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 Forvis Mazars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PLATINUM LEVEL SPONSOR</a:t>
            </a:r>
            <a:endParaRPr lang="en-US" sz="2800" dirty="0"/>
          </a:p>
        </p:txBody>
      </p:sp>
      <p:pic>
        <p:nvPicPr>
          <p:cNvPr id="9004" name="Forvis Mazars logo" descr="Forvis Mazars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993" y="2531040"/>
            <a:ext cx="4716109" cy="1978801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11: 2000, ENVISION PROGRAMS</a:t>
            </a:r>
            <a:endParaRPr lang="en-US" sz="1800" dirty="0"/>
          </a:p>
        </p:txBody>
      </p:sp>
      <p:pic>
        <p:nvPicPr>
          <p:cNvPr id="3" name="Image 0" descr="A camper rides a horse past a red barn while a counselor walks alongsid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2000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12: 2001, CAMPER &amp; DELTA GAMMA VOLUNTEER</a:t>
            </a:r>
            <a:endParaRPr lang="en-US" sz="1800" dirty="0"/>
          </a:p>
        </p:txBody>
      </p:sp>
      <p:pic>
        <p:nvPicPr>
          <p:cNvPr id="3" name="Image 0" descr="A counselor in a red shirt gives a young camper a piggyback rid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2001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CAMPER &amp; DELTA GAMMA VOLUNTEER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13: 2002, HEATHER’S CAMP, CAMPERS &amp; DELTA GAMMA VOLUNTEERS</a:t>
            </a:r>
            <a:endParaRPr lang="en-US" sz="1800" dirty="0"/>
          </a:p>
        </p:txBody>
      </p:sp>
      <p:pic>
        <p:nvPicPr>
          <p:cNvPr id="3" name="Image 0" descr="Four campers and counselors in orange and white camp shirts pose outdo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CAMPERS &amp;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14: 2002, ENVISION PROGRAMS</a:t>
            </a:r>
            <a:endParaRPr lang="en-US" sz="1800" dirty="0"/>
          </a:p>
        </p:txBody>
      </p:sp>
      <p:pic>
        <p:nvPicPr>
          <p:cNvPr id="3" name="Image 0" descr="A father holds a young camper in his arm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young camper draws a bow at archery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2002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DIAMOND LEVEL SPONSORS</a:t>
            </a:r>
            <a:endParaRPr lang="en-US" sz="2800" dirty="0"/>
          </a:p>
        </p:txBody>
      </p:sp>
      <p:pic>
        <p:nvPicPr>
          <p:cNvPr id="9007" name="6 Meridian logo" descr="6 Meridian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9850" y="2122442"/>
            <a:ext cx="3686861" cy="784317"/>
          </a:xfrm>
          <a:prstGeom prst="rect">
            <a:avLst/>
          </a:prstGeom>
        </p:spPr>
      </p:pic>
      <p:sp>
        <p:nvSpPr>
          <p:cNvPr id="9004" name="Summit Films (name)"/>
          <p:cNvSpPr txBox="1"/>
          <p:nvPr/>
        </p:nvSpPr>
        <p:spPr>
          <a:xfrm>
            <a:off x="6611112" y="1737360"/>
            <a:ext cx="4389120" cy="15544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3600" dirty="0">
                <a:solidFill>
                  <a:srgbClr val="FFFFFF"/>
                </a:solidFill>
                <a:latin typeface="Montserrat Light"/>
                <a:cs typeface="Montserrat Light"/>
              </a:rPr>
              <a:t>Summit Films</a:t>
            </a:r>
          </a:p>
        </p:txBody>
      </p:sp>
      <p:pic>
        <p:nvPicPr>
          <p:cNvPr id="9008" name="IMA logo" descr="IMA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4240" y="4193438"/>
            <a:ext cx="2418080" cy="1305763"/>
          </a:xfrm>
          <a:prstGeom prst="rect">
            <a:avLst/>
          </a:prstGeom>
        </p:spPr>
      </p:pic>
      <p:pic>
        <p:nvPicPr>
          <p:cNvPr id="9009" name="Hutton logo" descr="Hutton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62242" y="4410041"/>
            <a:ext cx="3686861" cy="872557"/>
          </a:xfrm>
          <a:prstGeom prst="rect">
            <a:avLst/>
          </a:prstGeom>
        </p:spPr>
      </p:pic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15: 2003, HEATHER’S CAMP PROGRAM PARTICIPANT</a:t>
            </a:r>
            <a:endParaRPr lang="en-US" sz="1800" dirty="0"/>
          </a:p>
        </p:txBody>
      </p:sp>
      <p:pic>
        <p:nvPicPr>
          <p:cNvPr id="3" name="Image 0" descr="A camper in a white cap and black shirt grins while working with his han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16: 2003, HEATHER’S CAMP PROGRAM PARTICIPANTS</a:t>
            </a:r>
            <a:endParaRPr lang="en-US" sz="1800" dirty="0"/>
          </a:p>
        </p:txBody>
      </p:sp>
      <p:pic>
        <p:nvPicPr>
          <p:cNvPr id="3" name="Image 0" descr="A large group of campers and counselors in white caps pose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17: 2003, HEATHER’S CAMP PROGRAM PARTICIPANTS</a:t>
            </a:r>
            <a:endParaRPr lang="en-US" sz="1800" dirty="0"/>
          </a:p>
        </p:txBody>
      </p:sp>
      <p:pic>
        <p:nvPicPr>
          <p:cNvPr id="3" name="Image 0" descr="Campers gather around a campfire while a counselor plays guita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2003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18: 2001, HEATHER’S CAMP</a:t>
            </a:r>
            <a:endParaRPr lang="en-US" sz="1800" dirty="0"/>
          </a:p>
        </p:txBody>
      </p:sp>
      <p:pic>
        <p:nvPicPr>
          <p:cNvPr id="3" name="Image 0" descr="A camper hammers nails into a wooden board craft projec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2001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 INTRUST Bank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GOLD LEVEL SPONSOR</a:t>
            </a:r>
            <a:endParaRPr lang="en-US" sz="2800" dirty="0"/>
          </a:p>
        </p:txBody>
      </p:sp>
      <p:sp>
        <p:nvSpPr>
          <p:cNvPr id="9003" name="INTRUST Bank (name)"/>
          <p:cNvSpPr txBox="1"/>
          <p:nvPr/>
        </p:nvSpPr>
        <p:spPr>
          <a:xfrm>
            <a:off x="3291840" y="2148840"/>
            <a:ext cx="5614416" cy="274320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5400" dirty="0">
                <a:solidFill>
                  <a:srgbClr val="FFFFFF"/>
                </a:solidFill>
                <a:latin typeface="Montserrat Light"/>
                <a:cs typeface="Montserrat Light"/>
              </a:rPr>
              <a:t>INTRUST Bank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19: 2004, HEATHER’S CAMP</a:t>
            </a:r>
            <a:endParaRPr lang="en-US" sz="1800" dirty="0"/>
          </a:p>
        </p:txBody>
      </p:sp>
      <p:pic>
        <p:nvPicPr>
          <p:cNvPr id="3" name="Image 0" descr="Two campers paddle a canoe across a pond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2004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20: 2005, ENVISION PROGRAMS</a:t>
            </a:r>
            <a:endParaRPr lang="en-US" sz="1800" dirty="0"/>
          </a:p>
        </p:txBody>
      </p:sp>
      <p:pic>
        <p:nvPicPr>
          <p:cNvPr id="3" name="Image 0" descr="Campers lie in a circle on a tile floor, heads togeth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21: 2005, HEATHER’S CAMP</a:t>
            </a:r>
            <a:endParaRPr lang="en-US" sz="1800" dirty="0"/>
          </a:p>
        </p:txBody>
      </p:sp>
      <p:pic>
        <p:nvPicPr>
          <p:cNvPr id="3" name="Image 0" descr="A camper in a helmet rides a horse while a counselor holds the rein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camper in a helmet sits on a gray hors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22: 2005, HEATHER’S CAMP, CAMPER &amp; DELTA GAMMA VOLUNTEERS</a:t>
            </a:r>
            <a:endParaRPr lang="en-US" sz="1800" dirty="0"/>
          </a:p>
        </p:txBody>
      </p:sp>
      <p:pic>
        <p:nvPicPr>
          <p:cNvPr id="3" name="Image 0" descr="A young camper in a striped shirt grins between two counsel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 &amp;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SILVER LEVEL SPONSORS</a:t>
            </a:r>
            <a:endParaRPr lang="en-US" sz="2800" dirty="0"/>
          </a:p>
        </p:txBody>
      </p:sp>
      <p:pic>
        <p:nvPicPr>
          <p:cNvPr id="9012" name="ADS logo" descr="ADS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62077" y="1684325"/>
            <a:ext cx="722166" cy="883310"/>
          </a:xfrm>
          <a:prstGeom prst="rect">
            <a:avLst/>
          </a:prstGeom>
        </p:spPr>
      </p:pic>
      <p:pic>
        <p:nvPicPr>
          <p:cNvPr id="9013" name="Corza Medical logo" descr="Corza Medical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0094" y="1743413"/>
            <a:ext cx="2457907" cy="765134"/>
          </a:xfrm>
          <a:prstGeom prst="rect">
            <a:avLst/>
          </a:prstGeom>
        </p:spPr>
      </p:pic>
      <p:pic>
        <p:nvPicPr>
          <p:cNvPr id="9014" name="ARSI logo" descr="ARSI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36838" y="1810699"/>
            <a:ext cx="2457907" cy="630563"/>
          </a:xfrm>
          <a:prstGeom prst="rect">
            <a:avLst/>
          </a:prstGeom>
        </p:spPr>
      </p:pic>
      <p:pic>
        <p:nvPicPr>
          <p:cNvPr id="9015" name="EBY logo" descr="EBY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7428" y="3284525"/>
            <a:ext cx="1991463" cy="883310"/>
          </a:xfrm>
          <a:prstGeom prst="rect">
            <a:avLst/>
          </a:prstGeom>
        </p:spPr>
      </p:pic>
      <p:pic>
        <p:nvPicPr>
          <p:cNvPr id="9016" name="Belleville logo" descr="Belleville logo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78964" y="3284525"/>
            <a:ext cx="2240168" cy="883310"/>
          </a:xfrm>
          <a:prstGeom prst="rect">
            <a:avLst/>
          </a:prstGeom>
        </p:spPr>
      </p:pic>
      <p:pic>
        <p:nvPicPr>
          <p:cNvPr id="9017" name="Enza Financial logo" descr="Enza Financial logo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50493" y="3284525"/>
            <a:ext cx="2030599" cy="883310"/>
          </a:xfrm>
          <a:prstGeom prst="rect">
            <a:avLst/>
          </a:prstGeom>
        </p:spPr>
      </p:pic>
      <p:sp>
        <p:nvSpPr>
          <p:cNvPr id="9009" name="Vornado (name)"/>
          <p:cNvSpPr txBox="1"/>
          <p:nvPr/>
        </p:nvSpPr>
        <p:spPr>
          <a:xfrm>
            <a:off x="960120" y="4800600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Vornado</a:t>
            </a:r>
          </a:p>
        </p:txBody>
      </p:sp>
      <p:pic>
        <p:nvPicPr>
          <p:cNvPr id="9018" name="Massif logo" descr="Massif log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22763" y="4884725"/>
            <a:ext cx="1352569" cy="883310"/>
          </a:xfrm>
          <a:prstGeom prst="rect">
            <a:avLst/>
          </a:prstGeom>
        </p:spPr>
      </p:pic>
      <p:sp>
        <p:nvSpPr>
          <p:cNvPr id="9011" name="Novolex (name)"/>
          <p:cNvSpPr txBox="1"/>
          <p:nvPr/>
        </p:nvSpPr>
        <p:spPr>
          <a:xfrm>
            <a:off x="8302752" y="4800600"/>
            <a:ext cx="2926080" cy="105156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Novolex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23: 2004, HEATHER’S CAMP, CAMPER &amp; DELTA GAMMA VOLUNTEERS</a:t>
            </a:r>
            <a:endParaRPr lang="en-US" sz="1800" dirty="0"/>
          </a:p>
        </p:txBody>
      </p:sp>
      <p:pic>
        <p:nvPicPr>
          <p:cNvPr id="3" name="Image 0" descr="A camper sits in a wheelchair with two counselors leaning in beside her outdoor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Campers and counselors in yellow camp shirts pose under the Heather’s Camp bann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2004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 &amp; DELTA GAMMA VOLUNTEERS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24: 2007, HEATHER’S CAMP</a:t>
            </a:r>
            <a:endParaRPr lang="en-US" sz="1800" dirty="0"/>
          </a:p>
        </p:txBody>
      </p:sp>
      <p:pic>
        <p:nvPicPr>
          <p:cNvPr id="3" name="Image 0" descr="A large group of campers and counselors pose on a shaded path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Campers in yellow life vests float in a line on a lak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25: 2007, ENVISION PROGRAMS</a:t>
            </a:r>
            <a:endParaRPr lang="en-US" sz="1800" dirty="0"/>
          </a:p>
        </p:txBody>
      </p:sp>
      <p:pic>
        <p:nvPicPr>
          <p:cNvPr id="3" name="Image 0" descr="Campers line up with bows drawn at an archery range in the wood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26: 2007, HEATHER’S CAMP</a:t>
            </a:r>
            <a:endParaRPr lang="en-US" sz="1800" dirty="0"/>
          </a:p>
        </p:txBody>
      </p:sp>
      <p:pic>
        <p:nvPicPr>
          <p:cNvPr id="3" name="Image 0" descr="Three campers sit on a pontoon boat with an inflatable raft on a lak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27: 2007, ENVISION PROGRAMS</a:t>
            </a:r>
            <a:endParaRPr lang="en-US" sz="1800" dirty="0"/>
          </a:p>
        </p:txBody>
      </p:sp>
      <p:pic>
        <p:nvPicPr>
          <p:cNvPr id="3" name="Image 0" descr="A child peeks out from under a rainbow parachute on the gras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28: 2007, HEATHER’S CAMP</a:t>
            </a:r>
            <a:endParaRPr lang="en-US" sz="1800" dirty="0"/>
          </a:p>
        </p:txBody>
      </p:sp>
      <p:pic>
        <p:nvPicPr>
          <p:cNvPr id="3" name="Image 0" descr="Campers and counselors line up for a limbo game under a yellow pole at nigh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camper leans back under the limbo pole while others wait their turn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29: 2007, ENVISION PROGRAMS</a:t>
            </a:r>
            <a:endParaRPr lang="en-US" sz="1800" dirty="0"/>
          </a:p>
        </p:txBody>
      </p:sp>
      <p:pic>
        <p:nvPicPr>
          <p:cNvPr id="3" name="Image 0" descr="Campers strike poses with raised arms in a lodge hallw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30: 2007, HEATHER’S CAMP</a:t>
            </a:r>
            <a:endParaRPr lang="en-US" sz="1800" dirty="0"/>
          </a:p>
        </p:txBody>
      </p:sp>
      <p:pic>
        <p:nvPicPr>
          <p:cNvPr id="3" name="Image 0" descr="Two campers in pink bandanas and glasses sit at a table smilin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ree campers grin at a table, one wearing a Heather’s Camp shirt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31: 2007, ENVISION PROGRAMS</a:t>
            </a:r>
            <a:endParaRPr lang="en-US" sz="1800" dirty="0"/>
          </a:p>
        </p:txBody>
      </p:sp>
      <p:pic>
        <p:nvPicPr>
          <p:cNvPr id="3" name="Image 0" descr="Two campers in pink and yellow shirts smile beside a counselor’s name tag at a night activit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7315200" cy="685800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635240" y="371337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635240" y="5486400"/>
            <a:ext cx="3822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PROGRAMS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32: 2007, HEATHER’S CAMP</a:t>
            </a:r>
            <a:endParaRPr lang="en-US" sz="1800" dirty="0"/>
          </a:p>
        </p:txBody>
      </p:sp>
      <p:pic>
        <p:nvPicPr>
          <p:cNvPr id="3" name="Image 0" descr="A camper sits in a wooden gazebo overlooking the tree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2007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33: 2010, ENVISION CHILD DEVELOPMENT CENTER</a:t>
            </a:r>
            <a:endParaRPr lang="en-US" sz="1800" dirty="0"/>
          </a:p>
        </p:txBody>
      </p:sp>
      <p:pic>
        <p:nvPicPr>
          <p:cNvPr id="3" name="Image 0" descr="A new playground with slides and a shade canopy under construction beside the Envision building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he indoor play area under construction with orange walls and green columns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34: 2014, ADAH, ECDC WICHITA</a:t>
            </a:r>
            <a:endParaRPr lang="en-US" sz="1800" dirty="0"/>
          </a:p>
        </p:txBody>
      </p:sp>
      <p:pic>
        <p:nvPicPr>
          <p:cNvPr id="3" name="Image 0" descr="Adah as a young girl in glasses smiling while holding a white cane in a hallw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3186684" cy="4617720"/>
          </a:xfrm>
          <a:prstGeom prst="rect">
            <a:avLst/>
          </a:prstGeom>
        </p:spPr>
      </p:pic>
      <p:pic>
        <p:nvPicPr>
          <p:cNvPr id="4" name="Image 1" descr="Adah as a young child in a pink Envision Child Development Center shirt and sunglasses eating a cookie beside a white can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4192524" y="777240"/>
            <a:ext cx="3186684" cy="461772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3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2014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ADAH, ECDC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35: 2010s, ENVISION BEEP BASEBALL</a:t>
            </a:r>
            <a:endParaRPr lang="en-US" sz="1800" dirty="0"/>
          </a:p>
        </p:txBody>
      </p:sp>
      <p:pic>
        <p:nvPicPr>
          <p:cNvPr id="3" name="Image 0" descr="A batter in a blue Wichita jersey and blindfold swings during a beep baseball game beside a canopy ten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BEEP BASEBALL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36: 2010s, ENVISION LOW VISION CLINIC REHABILITATION PROGRAM PARTICIPANT</a:t>
            </a:r>
            <a:endParaRPr lang="en-US" sz="1800" dirty="0"/>
          </a:p>
        </p:txBody>
      </p:sp>
      <p:pic>
        <p:nvPicPr>
          <p:cNvPr id="3" name="Image 0" descr="A woman wearing amber low vision glasses reads a package label with a staff member beside her in a store displa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LOW VISION CLINIC REHABILITATION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37: 2015, HEATHER’S CAMP, CAMPERS &amp; DELTA GAMMA VOLUNTEER</a:t>
            </a:r>
            <a:endParaRPr lang="en-US" sz="1800" dirty="0"/>
          </a:p>
        </p:txBody>
      </p:sp>
      <p:pic>
        <p:nvPicPr>
          <p:cNvPr id="3" name="Image 0" descr="A camp counselor in sunglasses laughs with two girls outdoors in the su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CAMP, CAMPERS &amp; DELTA GAMMA VOLUNTEER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38: 2015, HASHIM, ENVISION ARTS YOUTH PROGRAM PARTICIPANT</a:t>
            </a:r>
            <a:endParaRPr lang="en-US" sz="1800" dirty="0"/>
          </a:p>
        </p:txBody>
      </p:sp>
      <p:pic>
        <p:nvPicPr>
          <p:cNvPr id="3" name="Image 0" descr="Hashim as a boy in a red plaid shirt with a name tag, standing with a staff member holding a white cane outside a store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HASHIM, ENVISION ARTS YOUTH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39: 2015, ENVISION ARTS YOUTH PROGRAM PARTICIPANTS</a:t>
            </a:r>
            <a:endParaRPr lang="en-US" sz="1800" dirty="0"/>
          </a:p>
        </p:txBody>
      </p:sp>
      <p:pic>
        <p:nvPicPr>
          <p:cNvPr id="3" name="Image 0" descr="Kids and volunteers with white canes and Live Happy bags pose in front of the Bicknell Low Vision Rehabilitation Center sig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Kids and volunteers work on crafts along a long tabl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40: 2015, ADAH, ENVISION ARTS YOUTH PROGRAM PARTICIPANT</a:t>
            </a:r>
            <a:endParaRPr lang="en-US" sz="1800" dirty="0"/>
          </a:p>
        </p:txBody>
      </p:sp>
      <p:pic>
        <p:nvPicPr>
          <p:cNvPr id="3" name="Image 0" descr="Adah as a young girl in an apron and purple gloves painting with blue paint at an art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ADAH, ENVISION ARTS YOUTH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41: 2010s, ENVISION CHILD DEVELOPMENT CENTER</a:t>
            </a:r>
            <a:endParaRPr lang="en-US" sz="1800" dirty="0"/>
          </a:p>
        </p:txBody>
      </p:sp>
      <p:pic>
        <p:nvPicPr>
          <p:cNvPr id="3" name="Image 0" descr="Children and staff hold an oversized check from KU Wichita Pediatrics in front of the Envision Child Development Center entranc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Seven children in pajamas stand with Santa holding a Happy Holidays sign from the Envision Child Development Center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2010s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CHILD DEVELOPMENT CENTER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42: 2017, BRAILLE CHALLENGE, WICHITA</a:t>
            </a:r>
            <a:endParaRPr lang="en-US" sz="1800" dirty="0"/>
          </a:p>
        </p:txBody>
      </p:sp>
      <p:pic>
        <p:nvPicPr>
          <p:cNvPr id="3" name="Image 0" descr="Children in matching maroon shirts sit in rows with white canes while one raises a hand during a presentatio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2017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BRAILLE CHALLENGE, WICHITA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43: 2018, ENVISION’S LEVEL UP, PROGRAM PARTICIPANTS</a:t>
            </a:r>
            <a:endParaRPr lang="en-US" sz="1800" dirty="0"/>
          </a:p>
        </p:txBody>
      </p:sp>
      <p:pic>
        <p:nvPicPr>
          <p:cNvPr id="3" name="Image 0" descr="Four teens and an instructor lean into a pink ride-on car to wire its electronics in a workshop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Two teens work with screwdrivers on a black plastic chassis in a workshop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44: 2018, ENVISION ARTS YOUTH PROGRAM PARTICIPANTS</a:t>
            </a:r>
            <a:endParaRPr lang="en-US" sz="1800" dirty="0"/>
          </a:p>
        </p:txBody>
      </p:sp>
      <p:pic>
        <p:nvPicPr>
          <p:cNvPr id="3" name="Image 0" descr="Six kids pose with an instructor in an art room beside a table of painting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2018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45: 2019, ENVISION GOLF CLINIC, PROGRAM PARTICIPANT</a:t>
            </a:r>
            <a:endParaRPr lang="en-US" sz="1800" dirty="0"/>
          </a:p>
        </p:txBody>
      </p:sp>
      <p:pic>
        <p:nvPicPr>
          <p:cNvPr id="3" name="Image 0" descr="An instructor guides a young golfer’s putting stance on a green while a woman in an Envision shirt watches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2019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GOLF CLINIC,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47: 2020, ADAH AND HASHIM, ENVISION’S LEVEL UP, PROGRAM PARTICIPANTS</a:t>
            </a:r>
            <a:endParaRPr lang="en-US" sz="1800" dirty="0"/>
          </a:p>
        </p:txBody>
      </p:sp>
      <p:pic>
        <p:nvPicPr>
          <p:cNvPr id="3" name="Image 0" descr="Adah and Hashim share a laptop at an Envision University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ADAH AND HASHIM, ENVISION’S LEVEL UP, PROGRAM PARTICIPANTS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48: 2020, ENVISION MONTHLY PROGRAMS</a:t>
            </a:r>
            <a:endParaRPr lang="en-US" sz="1800" dirty="0"/>
          </a:p>
        </p:txBody>
      </p:sp>
      <p:pic>
        <p:nvPicPr>
          <p:cNvPr id="3" name="Image 0" descr="A large group of kids and volunteers pose with a dog mascot at a bowling alley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822960"/>
            <a:ext cx="5212080" cy="3538728"/>
          </a:xfrm>
          <a:prstGeom prst="rect">
            <a:avLst/>
          </a:prstGeom>
        </p:spPr>
      </p:pic>
      <p:pic>
        <p:nvPicPr>
          <p:cNvPr id="4" name="Image 1" descr="A volunteer and a boy in glasses grin beside the ball return at a bowling alley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2"/>
          <a:srcRect l="0" r="0" t="0" b="0"/>
          <a:stretch/>
        </p:blipFill>
        <p:spPr>
          <a:xfrm>
            <a:off x="6245352" y="822960"/>
            <a:ext cx="5212080" cy="3538728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6858000" y="3713378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2020</a:t>
            </a:r>
            <a:endParaRPr lang="en-US" sz="7200" dirty="0"/>
          </a:p>
        </p:txBody>
      </p:sp>
      <p:sp>
        <p:nvSpPr>
          <p:cNvPr id="6" name="Text 0"/>
          <p:cNvSpPr txBox="1"/>
          <p:nvPr>
            <p:ph type="body" idx="103" hasCustomPrompt="1"/>
          </p:nvPr>
        </p:nvSpPr>
        <p:spPr>
          <a:xfrm>
            <a:off x="731520" y="548640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MONTHLY PROGRAMS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49: 2021, ENVISION BEEP BASEBALL</a:t>
            </a:r>
            <a:endParaRPr lang="en-US" sz="1800" dirty="0"/>
          </a:p>
        </p:txBody>
      </p:sp>
      <p:pic>
        <p:nvPicPr>
          <p:cNvPr id="3" name="Image 0" descr="The Wichita Falcons and Lonestar Roadrunners beep baseball teams pose together on a field with an Envision bann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2021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BEEP BASEBALL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51: 2022, ENVISION’S LEVEL UP, PROGRAM PARTICIPANT</a:t>
            </a:r>
            <a:endParaRPr lang="en-US" sz="1800" dirty="0"/>
          </a:p>
        </p:txBody>
      </p:sp>
      <p:pic>
        <p:nvPicPr>
          <p:cNvPr id="3" name="Image 0" descr="Adah in a yellow shirt and visor studies a cup of gumballs at a Level Up table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52: 2022, ENVISION’S LEVEL UP, PROGRAM PARTICIPANT</a:t>
            </a:r>
            <a:endParaRPr lang="en-US" sz="1800" dirty="0"/>
          </a:p>
        </p:txBody>
      </p:sp>
      <p:pic>
        <p:nvPicPr>
          <p:cNvPr id="3" name="Image 0" descr="Hashim in an orange shirt with his white cane mentors two Level Up students cutting carrots in a teaching kitchen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Decorative scrim" descr="/home/claude/build/assets/scrim_bottom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Decorative time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129784"/>
            <a:ext cx="12191695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Decorative red point" descr="/home/claude/build/assets/red_dot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7120" y="5047488"/>
            <a:ext cx="201168" cy="201168"/>
          </a:xfrm>
          <a:prstGeom prst="rect">
            <a:avLst/>
          </a:prstGeom>
        </p:spPr>
      </p:pic>
      <p:sp>
        <p:nvSpPr>
          <p:cNvPr id="6" name="Text 0"/>
          <p:cNvSpPr txBox="1"/>
          <p:nvPr>
            <p:ph type="body" idx="102" hasCustomPrompt="1"/>
          </p:nvPr>
        </p:nvSpPr>
        <p:spPr>
          <a:xfrm>
            <a:off x="6949440" y="3713378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7" name="Text 0"/>
          <p:cNvSpPr txBox="1"/>
          <p:nvPr>
            <p:ph type="body" idx="104" hasCustomPrompt="1"/>
          </p:nvPr>
        </p:nvSpPr>
        <p:spPr>
          <a:xfrm>
            <a:off x="5943600" y="5486400"/>
            <a:ext cx="55046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53: 2022, ENVISION FOREVISION GOLF TOURNAMENT</a:t>
            </a:r>
            <a:endParaRPr lang="en-US" sz="1800" dirty="0"/>
          </a:p>
        </p:txBody>
      </p:sp>
      <p:pic>
        <p:nvPicPr>
          <p:cNvPr id="3" name="Image 0" descr="Six golfers pose together on a golf course at sunset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l="0" r="0" t="0" b="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2022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22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FOREVISION GOLF TOURNAMENT</a:t>
            </a:r>
            <a:endParaRPr lang="en-US" sz="22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54: 2024, ENVISION’S LEVEL UP, PROGRAM PARTICIPANT</a:t>
            </a:r>
            <a:endParaRPr lang="en-US" sz="1800" dirty="0"/>
          </a:p>
        </p:txBody>
      </p:sp>
      <p:pic>
        <p:nvPicPr>
          <p:cNvPr id="3" name="Image 0" descr="Kennick, an instructor, and another Level Up student build a desktop PC, the student fitting a part with a screwdriver">    </p:cNvPr>
          <p:cNvPicPr>
            <a:picLocks noChangeAspect="1"/>
          </p:cNvPicPr>
          <p:nvPr>
            <p:ph type="pic" idx="101" hasCustomPrompt="1"/>
          </p:nvPr>
        </p:nvPicPr>
        <p:blipFill>
          <a:blip r:embed="rId1"/>
          <a:srcRect t="13800" b="13800"/>
          <a:stretch/>
        </p:blipFill>
        <p:spPr>
          <a:xfrm>
            <a:off x="731520" y="777240"/>
            <a:ext cx="6803136" cy="4617720"/>
          </a:xfrm>
          <a:prstGeom prst="rect">
            <a:avLst/>
          </a:prstGeom>
        </p:spPr>
      </p:pic>
      <p:sp>
        <p:nvSpPr>
          <p:cNvPr id="4" name="Text 0"/>
          <p:cNvSpPr txBox="1"/>
          <p:nvPr>
            <p:ph type="body" idx="102" hasCustomPrompt="1"/>
          </p:nvPr>
        </p:nvSpPr>
        <p:spPr>
          <a:xfrm>
            <a:off x="7863840" y="3713378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7200" spc="14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7200" dirty="0"/>
          </a:p>
        </p:txBody>
      </p:sp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731520" y="5486400"/>
            <a:ext cx="10716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800" spc="43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ENVISION’S LEVEL UP, PROGRAM PARTICIPANT</a:t>
            </a:r>
            <a:endParaRPr lang="en-US" sz="18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55: 2024, HEATHER’S CAMP</a:t>
            </a:r>
            <a:endParaRPr lang="en-US" sz="1800" dirty="0"/>
          </a:p>
        </p:txBody>
      </p:sp>
      <p:pic>
        <p:nvPicPr>
          <p:cNvPr id="3" name="Image 0" descr="Aubree as a young camper in a pink dress holds an orange flower and her white cane between two smiling counselors under a tre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ubree, a Level Up student in a black dress, holds her white cane and looks up with a smile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2024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HEATHER’S CAMP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AUBREE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LEVEL UP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56: 2011, ECDC WICHITA</a:t>
            </a:r>
            <a:endParaRPr lang="en-US" sz="1800" dirty="0"/>
          </a:p>
        </p:txBody>
      </p:sp>
      <p:pic>
        <p:nvPicPr>
          <p:cNvPr id="3" name="Image 0" descr="Adah as a preschooler in glasses wearing a paper feather headdress and smiling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Adah in a purple cap and gown with a Class of 2026 stole smiles beside a friend outside her graduation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2011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ECDC WICHITA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ADAH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HIGH SCHOOL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Throwback 57: 2015, ENVISION ARTS YOUTH PROGRAM</a:t>
            </a:r>
            <a:endParaRPr lang="en-US" sz="1800" dirty="0"/>
          </a:p>
        </p:txBody>
      </p:sp>
      <p:pic>
        <p:nvPicPr>
          <p:cNvPr id="3" name="Image 0" descr="Hashim as a boy in a red plaid shirt painting a wooden shape blue">    </p:cNvPr>
          <p:cNvPicPr>
            <a:picLocks noChangeAspect="1"/>
          </p:cNvPicPr>
          <p:nvPr>
            <p:ph type="pic" idx="102" hasCustomPrompt="1"/>
          </p:nvPr>
        </p:nvPicPr>
        <p:blipFill>
          <a:blip r:embed="rId1"/>
          <a:srcRect l="0" r="0" t="0" b="0"/>
          <a:stretch/>
        </p:blipFill>
        <p:spPr>
          <a:xfrm>
            <a:off x="2411273" y="868680"/>
            <a:ext cx="2858414" cy="3657600"/>
          </a:xfrm>
          <a:prstGeom prst="rect">
            <a:avLst/>
          </a:prstGeom>
        </p:spPr>
      </p:pic>
      <p:pic>
        <p:nvPicPr>
          <p:cNvPr id="4" name="Image 1" descr="Hashim in a graduation cap and gown with a green stole holds up a Wichita State University diploma and signs I love you">    </p:cNvPr>
          <p:cNvPicPr>
            <a:picLocks noChangeAspect="1"/>
          </p:cNvPicPr>
          <p:nvPr>
            <p:ph type="pic" idx="103" hasCustomPrompt="1"/>
          </p:nvPr>
        </p:nvPicPr>
        <p:blipFill>
          <a:blip r:embed="rId2"/>
          <a:srcRect l="0" r="0" t="0" b="0"/>
          <a:stretch/>
        </p:blipFill>
        <p:spPr>
          <a:xfrm>
            <a:off x="6919265" y="868680"/>
            <a:ext cx="2858414" cy="3657600"/>
          </a:xfrm>
          <a:prstGeom prst="rect">
            <a:avLst/>
          </a:prstGeom>
        </p:spPr>
      </p:pic>
      <p:sp>
        <p:nvSpPr>
          <p:cNvPr id="5" name="Text 0"/>
          <p:cNvSpPr txBox="1"/>
          <p:nvPr>
            <p:ph type="body" idx="104" hasCustomPrompt="1"/>
          </p:nvPr>
        </p:nvSpPr>
        <p:spPr>
          <a:xfrm>
            <a:off x="2411273" y="4410151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2015</a:t>
            </a:r>
            <a:endParaRPr lang="en-US" sz="5400" dirty="0"/>
          </a:p>
        </p:txBody>
      </p:sp>
      <p:sp>
        <p:nvSpPr>
          <p:cNvPr id="6" name="Text 0"/>
          <p:cNvSpPr txBox="1"/>
          <p:nvPr>
            <p:ph type="body" idx="105" hasCustomPrompt="1"/>
          </p:nvPr>
        </p:nvSpPr>
        <p:spPr>
          <a:xfrm>
            <a:off x="2411273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ENVISION ARTS YOUTH PROGRAM</a:t>
            </a:r>
            <a:endParaRPr lang="en-US" sz="2000" dirty="0"/>
          </a:p>
        </p:txBody>
      </p:sp>
      <p:sp>
        <p:nvSpPr>
          <p:cNvPr id="7" name="Text 0"/>
          <p:cNvSpPr txBox="1"/>
          <p:nvPr>
            <p:ph type="body" idx="101" hasCustomPrompt="1"/>
          </p:nvPr>
        </p:nvSpPr>
        <p:spPr>
          <a:xfrm>
            <a:off x="731520" y="2286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47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HASHIM  ·  FEATURED GUEST</a:t>
            </a:r>
            <a:endParaRPr lang="en-US" sz="2600" dirty="0"/>
          </a:p>
        </p:txBody>
      </p:sp>
      <p:sp>
        <p:nvSpPr>
          <p:cNvPr id="8" name="Text 0"/>
          <p:cNvSpPr txBox="1"/>
          <p:nvPr>
            <p:ph type="body" idx="106" hasCustomPrompt="1"/>
          </p:nvPr>
        </p:nvSpPr>
        <p:spPr>
          <a:xfrm>
            <a:off x="6919265" y="4410151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5400" spc="110" kern="0" dirty="0">
                <a:solidFill>
                  <a:srgbClr val="FFFFFF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2026</a:t>
            </a:r>
            <a:endParaRPr lang="en-US" sz="5400" dirty="0"/>
          </a:p>
        </p:txBody>
      </p:sp>
      <p:sp>
        <p:nvSpPr>
          <p:cNvPr id="9" name="Text 0"/>
          <p:cNvSpPr txBox="1"/>
          <p:nvPr>
            <p:ph type="body" idx="108" hasCustomPrompt="1"/>
          </p:nvPr>
        </p:nvSpPr>
        <p:spPr>
          <a:xfrm>
            <a:off x="6044184" y="5349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2000" spc="360" kern="0" dirty="0">
                <a:solidFill>
                  <a:srgbClr val="C9C9C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WICHITA STATE GRADUATE</a:t>
            </a:r>
            <a:endParaRPr lang="en-US" sz="2000" dirty="0"/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>
            <p:ph type="title" idx="100" hasCustomPrompt="1"/>
          </p:nvPr>
        </p:nvSpPr>
        <p:spPr>
          <a:xfrm>
            <a:off x="-18288000" y="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1800" dirty="0"/>
          </a:p>
        </p:txBody>
      </p:sp>
      <p:sp>
        <p:nvSpPr>
          <p:cNvPr id="3" name="Text 0"/>
          <p:cNvSpPr txBox="1"/>
          <p:nvPr>
            <p:ph type="body" idx="101" hasCustomPrompt="1"/>
          </p:nvPr>
        </p:nvSpPr>
        <p:spPr>
          <a:xfrm>
            <a:off x="731520" y="822960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500" kern="0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THANK YOU TO OUR SPONSORS</a:t>
            </a:r>
            <a:endParaRPr lang="en-US" sz="2800" dirty="0"/>
          </a:p>
        </p:txBody>
      </p:sp>
      <p:pic>
        <p:nvPicPr>
          <p:cNvPr id="9004" name="HighTouch Technologies logo" descr="HighTouch Technologie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472" y="1691640"/>
            <a:ext cx="2788007" cy="640080"/>
          </a:xfrm>
          <a:prstGeom prst="rect">
            <a:avLst/>
          </a:prstGeom>
        </p:spPr>
      </p:pic>
      <p:pic>
        <p:nvPicPr>
          <p:cNvPr id="9047" name="Forvis Mazars logo" descr="Forvis Mazars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039" y="2743200"/>
            <a:ext cx="1525513" cy="640080"/>
          </a:xfrm>
          <a:prstGeom prst="rect">
            <a:avLst/>
          </a:prstGeom>
        </p:spPr>
      </p:pic>
      <p:pic>
        <p:nvPicPr>
          <p:cNvPr id="9048" name="Allen Exploration logo" descr="Allen Exploration 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551" y="2743200"/>
            <a:ext cx="1798418" cy="640080"/>
          </a:xfrm>
          <a:prstGeom prst="rect">
            <a:avLst/>
          </a:prstGeom>
        </p:spPr>
      </p:pic>
      <p:sp>
        <p:nvSpPr>
          <p:cNvPr id="9031" name="SPR (name)"/>
          <p:cNvSpPr txBox="1"/>
          <p:nvPr/>
        </p:nvSpPr>
        <p:spPr>
          <a:xfrm>
            <a:off x="3108960" y="27432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600" dirty="0">
                <a:solidFill>
                  <a:srgbClr val="FFFFFF"/>
                </a:solidFill>
                <a:latin typeface="Montserrat Light"/>
                <a:cs typeface="Montserrat Light"/>
              </a:rPr>
              <a:t>SPR</a:t>
            </a:r>
          </a:p>
        </p:txBody>
      </p:sp>
      <p:pic>
        <p:nvPicPr>
          <p:cNvPr id="9055" name="LC Industries Foundation logo" descr="LC Industries Foundation logo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25440" y="2837712"/>
            <a:ext cx="2194560" cy="451056"/>
          </a:xfrm>
          <a:prstGeom prst="rect">
            <a:avLst/>
          </a:prstGeom>
        </p:spPr>
      </p:pic>
      <p:pic>
        <p:nvPicPr>
          <p:cNvPr id="9049" name="6 Meridian logo" descr="6 Meridian 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10551"/>
            <a:ext cx="1920240" cy="408498"/>
          </a:xfrm>
          <a:prstGeom prst="rect">
            <a:avLst/>
          </a:prstGeom>
        </p:spPr>
      </p:pic>
      <p:sp>
        <p:nvSpPr>
          <p:cNvPr id="9034" name="Summit Films (name)"/>
          <p:cNvSpPr txBox="1"/>
          <p:nvPr/>
        </p:nvSpPr>
        <p:spPr>
          <a:xfrm>
            <a:off x="2788920" y="37947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Summit Films</a:t>
            </a:r>
          </a:p>
        </p:txBody>
      </p:sp>
      <p:pic>
        <p:nvPicPr>
          <p:cNvPr id="9056" name="IMA logo" descr="IMA logo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68053" y="3794760"/>
            <a:ext cx="1185333" cy="640080"/>
          </a:xfrm>
          <a:prstGeom prst="rect">
            <a:avLst/>
          </a:prstGeom>
        </p:spPr>
      </p:pic>
      <p:pic>
        <p:nvPicPr>
          <p:cNvPr id="9057" name="Hutton logo" descr="Hutton 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2280" y="3887572"/>
            <a:ext cx="1920240" cy="454457"/>
          </a:xfrm>
          <a:prstGeom prst="rect">
            <a:avLst/>
          </a:prstGeom>
        </p:spPr>
      </p:pic>
      <p:sp>
        <p:nvSpPr>
          <p:cNvPr id="9037" name="INTRUST Bank (name)"/>
          <p:cNvSpPr txBox="1"/>
          <p:nvPr/>
        </p:nvSpPr>
        <p:spPr>
          <a:xfrm>
            <a:off x="9203436" y="37947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INTRUST Bank</a:t>
            </a:r>
          </a:p>
        </p:txBody>
      </p:sp>
      <p:pic>
        <p:nvPicPr>
          <p:cNvPr id="9050" name="ADS logo" descr="ADS 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79836" y="4846320"/>
            <a:ext cx="448550" cy="548640"/>
          </a:xfrm>
          <a:prstGeom prst="rect">
            <a:avLst/>
          </a:prstGeom>
        </p:spPr>
      </p:pic>
      <p:pic>
        <p:nvPicPr>
          <p:cNvPr id="9051" name="Corza Medical logo" descr="Corza Medical 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8071" y="4846320"/>
            <a:ext cx="1762445" cy="548640"/>
          </a:xfrm>
          <a:prstGeom prst="rect">
            <a:avLst/>
          </a:prstGeom>
        </p:spPr>
      </p:pic>
      <p:pic>
        <p:nvPicPr>
          <p:cNvPr id="9052" name="ARSI logo" descr="ARSI logo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8636" y="4862597"/>
            <a:ext cx="2011680" cy="516085"/>
          </a:xfrm>
          <a:prstGeom prst="rect">
            <a:avLst/>
          </a:prstGeom>
        </p:spPr>
      </p:pic>
      <p:pic>
        <p:nvPicPr>
          <p:cNvPr id="9053" name="EBY logo" descr="EBY log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1191" y="4846320"/>
            <a:ext cx="1236934" cy="548640"/>
          </a:xfrm>
          <a:prstGeom prst="rect">
            <a:avLst/>
          </a:prstGeom>
        </p:spPr>
      </p:pic>
      <p:pic>
        <p:nvPicPr>
          <p:cNvPr id="9054" name="Belleville logo" descr="Belleville logo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89136" y="4846320"/>
            <a:ext cx="1391409" cy="548640"/>
          </a:xfrm>
          <a:prstGeom prst="rect">
            <a:avLst/>
          </a:prstGeom>
        </p:spPr>
      </p:pic>
      <p:pic>
        <p:nvPicPr>
          <p:cNvPr id="9058" name="Enza Financial logo" descr="Enza Financial logo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4190" y="5440680"/>
            <a:ext cx="1156138" cy="502920"/>
          </a:xfrm>
          <a:prstGeom prst="rect">
            <a:avLst/>
          </a:prstGeom>
        </p:spPr>
      </p:pic>
      <p:sp>
        <p:nvSpPr>
          <p:cNvPr id="9044" name="Vornado (name)"/>
          <p:cNvSpPr txBox="1"/>
          <p:nvPr/>
        </p:nvSpPr>
        <p:spPr>
          <a:xfrm>
            <a:off x="3656457" y="54406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Vornado</a:t>
            </a:r>
          </a:p>
        </p:txBody>
      </p:sp>
      <p:pic>
        <p:nvPicPr>
          <p:cNvPr id="9059" name="Massif logo" descr="Massif logo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050167" y="5440680"/>
            <a:ext cx="770096" cy="502920"/>
          </a:xfrm>
          <a:prstGeom prst="rect">
            <a:avLst/>
          </a:prstGeom>
        </p:spPr>
      </p:pic>
      <p:sp>
        <p:nvSpPr>
          <p:cNvPr id="9046" name="Novolex (name)"/>
          <p:cNvSpPr txBox="1"/>
          <p:nvPr/>
        </p:nvSpPr>
        <p:spPr>
          <a:xfrm>
            <a:off x="9019413" y="5440680"/>
            <a:ext cx="2194560" cy="502920"/>
          </a:xfrm>
          <a:prstGeom prst="rect">
            <a:avLst/>
          </a:prstGeom>
          <a:noFill/>
        </p:spPr>
        <p:txBody>
          <a:bodyPr wrap="square" lIns="0" tIns="0" rIns="0" bIns="0" anchor="ctr" rtlCol="0">
            <a:normAutofit/>
          </a:bodyPr>
          <a:lstStyle/>
          <a:p>
            <a:pPr algn="ctr"/>
            <a:r>
              <a:rPr lang="en-US" sz="2000" dirty="0">
                <a:solidFill>
                  <a:srgbClr val="FFFFFF"/>
                </a:solidFill>
                <a:latin typeface="Montserrat Light"/>
                <a:cs typeface="Montserrat Light"/>
              </a:rPr>
              <a:t>Novolex</a:t>
            </a:r>
          </a:p>
        </p:txBody>
      </p:sp>
      <p:sp>
        <p:nvSpPr>
          <p:cNvPr id="9023" name="Tier label"/>
          <p:cNvSpPr txBox="1"/>
          <p:nvPr/>
        </p:nvSpPr>
        <p:spPr>
          <a:xfrm>
            <a:off x="731520" y="1389888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PRESENTING SPONSOR</a:t>
            </a:r>
          </a:p>
        </p:txBody>
      </p:sp>
      <p:sp>
        <p:nvSpPr>
          <p:cNvPr id="9024" name="Tier label"/>
          <p:cNvSpPr txBox="1"/>
          <p:nvPr/>
        </p:nvSpPr>
        <p:spPr>
          <a:xfrm>
            <a:off x="731520" y="2450592"/>
            <a:ext cx="694944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CORPORATE SPONSORS</a:t>
            </a:r>
          </a:p>
        </p:txBody>
      </p:sp>
      <p:sp>
        <p:nvSpPr>
          <p:cNvPr id="9025" name="Tier label"/>
          <p:cNvSpPr txBox="1"/>
          <p:nvPr/>
        </p:nvSpPr>
        <p:spPr>
          <a:xfrm>
            <a:off x="8138160" y="2450592"/>
            <a:ext cx="331927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PLATINUM LEVEL</a:t>
            </a:r>
          </a:p>
        </p:txBody>
      </p:sp>
      <p:sp>
        <p:nvSpPr>
          <p:cNvPr id="9026" name="Tier label"/>
          <p:cNvSpPr txBox="1"/>
          <p:nvPr/>
        </p:nvSpPr>
        <p:spPr>
          <a:xfrm>
            <a:off x="731520" y="3502152"/>
            <a:ext cx="8046720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DIAMOND LEVEL</a:t>
            </a:r>
          </a:p>
        </p:txBody>
      </p:sp>
      <p:sp>
        <p:nvSpPr>
          <p:cNvPr id="9027" name="Tier label"/>
          <p:cNvSpPr txBox="1"/>
          <p:nvPr/>
        </p:nvSpPr>
        <p:spPr>
          <a:xfrm>
            <a:off x="9144000" y="3502152"/>
            <a:ext cx="231343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GOLD LEVEL</a:t>
            </a:r>
          </a:p>
        </p:txBody>
      </p:sp>
      <p:sp>
        <p:nvSpPr>
          <p:cNvPr id="9028" name="Tier label"/>
          <p:cNvSpPr txBox="1"/>
          <p:nvPr/>
        </p:nvSpPr>
        <p:spPr>
          <a:xfrm>
            <a:off x="731520" y="4553712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ctr" rtlCol="0"/>
          <a:lstStyle/>
          <a:p>
            <a:pPr algn="ctr"/>
            <a:r>
              <a:rPr lang="en-US" sz="1800" b="0" spc="320" dirty="0">
                <a:solidFill>
                  <a:srgbClr val="C9C9C9"/>
                </a:solidFill>
                <a:latin typeface="Montserrat SemiBold"/>
                <a:cs typeface="Montserrat SemiBold"/>
              </a:rPr>
              <a:t>SILVER LEVEL</a:t>
            </a:r>
          </a:p>
        </p:txBody>
      </p:sp>
      <p:sp>
        <p:nvSpPr>
          <p:cNvPr id="9001" name="Decorative theme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gradFill rotWithShape="1">
            <a:gsLst>
              <a:gs pos="0">
                <a:srgbClr val="1C0609"/>
              </a:gs>
              <a:gs pos="45000">
                <a:srgbClr val="5E0E1B"/>
              </a:gs>
              <a:gs pos="100000">
                <a:srgbClr val="9A1428"/>
              </a:gs>
            </a:gsLst>
            <a:lin ang="0" scaled="0"/>
          </a:gradFill>
          <a:ln>
            <a:noFill/>
          </a:ln>
        </p:spPr>
      </p:sp>
      <p:sp>
        <p:nvSpPr>
          <p:cNvPr id="9002" name="Theme line"/>
          <p:cNvSpPr txBox="1"/>
          <p:nvPr/>
        </p:nvSpPr>
        <p:spPr>
          <a:xfrm>
            <a:off x="731520" y="6355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spc="360" kern="0" dirty="0">
                <a:solidFill>
                  <a:srgbClr val="FFFFFF"/>
                </a:solidFill>
                <a:latin typeface="Montserrat SemiBold" pitchFamily="34" charset="0"/>
                <a:cs typeface="Montserrat SemiBold" pitchFamily="34" charset="-120"/>
              </a:rPr>
              <a:t>ENVISION THE FUTURE  ·  HONOR THE LEGACY</a:t>
            </a:r>
          </a:p>
        </p:txBody>
      </p:sp>
    </p:spTree>
  </p:cSld>
  <p:clrMapOvr>
    <a:masterClrMapping/>
  </p:clrMapOvr>
  <p:transition spd="slow" advClick="1" advTm="8000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7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</vt:vector>
  </TitlesOfParts>
  <Company>Envision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Envision Gala 2026: Cocktail Hour Loop</dc:title>
  <dc:subject>PptxGenJS Presentation</dc:subject>
  <dc:creator>Envision Marketing</dc:creator>
  <cp:lastModifiedBy>Envision Marketing</cp:lastModifiedBy>
  <cp:revision>1</cp:revision>
  <dcterms:created xsi:type="dcterms:W3CDTF">2026-09-15T19:36:44Z</dcterms:created>
  <dcterms:modified xsi:type="dcterms:W3CDTF">2026-09-15T19:36:44Z</dcterms:modified>
</cp:coreProperties>
</file>