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Layouts/slideLayout2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9" r:id="rId30"/>
    <p:sldId id="265" r:id="rId11"/>
    <p:sldId id="280" r:id="rId31"/>
    <p:sldId id="263" r:id="rId9"/>
    <p:sldId id="281" r:id="rId32"/>
    <p:sldId id="262" r:id="rId8"/>
    <p:sldId id="282" r:id="rId33"/>
    <p:sldId id="264" r:id="rId10"/>
    <p:sldId id="283" r:id="rId34"/>
    <p:sldId id="261" r:id="rId7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slide" Target="slides/slide37.xml"/>
  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USE THIS TEMPLATE: Home &gt; New Slide (arrow) and pick a layout. Fill the placeholders; the styling is built in. Photo and rendering placeholders crop to fill (Picture Format &gt; Crop to adjust the framing). Logo and QR placeholders fit the image without cropping. Every layout has a hidden title placeholder off the slide edge (Home &gt; Select &gt; Selection Pane) so screen reader users can navigate by slide title; give each slide a unique one. Montserrat must be installed on the presenting laptop, or embed fonts when you save (File &gt; Options &gt; Save &gt; Embed fonts). This deck advances on click only (no auto-advance). Video slides are title cards; AV plays the videos from a separate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AV rolls video 1 (Level Up). Working title and setup line; replace with the final on-screen title once the videos are locked. The card holds on screen until AV switches source and returns to the deck afterward.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AV rolls video 2 (Heather’s Camp). Working title and setup line; replace with the final on-screen title once the videos are locked. The card holds on screen until AV switches source and returns to the deck afterward.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AV rolls video 3 (Water Street). Working title and setup line; replace with the final on-screen title once the videos are locked. The card holds on screen until AV switches source and returns to the deck afterward.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AV rolls video 4 (Envision Child Development Center). Working title and setup line; replace with the final on-screen title once the videos are locked. The card holds on screen until AV switches source and returns to the deck afterward.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AV rolls video 5 (Program Legacy). Working title and setup line; replace with the final on-screen title once the videos are locked. The card holds on screen until AV switches source and returns to the deck afterward.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Sponsor thank-you moment: every sponsor by tier, the same cloud that closes the cocktail hour loop. To swap a logo, right-click it and choose Change Picture. The single-tier sponsor layouts are still available from New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Edit the line as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image" Target="../media/image-1002-4.png"/><Relationship Id="rId5" Type="http://schemas.openxmlformats.org/officeDocument/2006/relationships/image" Target="../media/Welcome-(lockup)-image-5.jpeg"/><Relationship Id="rId6" Type="http://schemas.openxmlformats.org/officeDocument/2006/relationships/slideMaster" Target="../slideMasters/slideMaster1.xml"/><Relationship Id="rId7" Type="http://schemas.openxmlformats.org/officeDocument/2006/relationships/image" Target="../media/cover_bg.png"/><Relationship Id="rId8" Type="http://schemas.openxmlformats.org/officeDocument/2006/relationships/image" Target="../media/welcome_script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glow_soft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17-1.png"/><Relationship Id="rId2" Type="http://schemas.openxmlformats.org/officeDocument/2006/relationships/slideMaster" Target="../slideMasters/slideMaster1.xml"/><Relationship Id="rId3" Type="http://schemas.openxmlformats.org/officeDocument/2006/relationships/image" Target="../media/glow_soft.png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18-1.png"/><Relationship Id="rId2" Type="http://schemas.openxmlformats.org/officeDocument/2006/relationships/slideMaster" Target="../slideMasters/slideMaster1.xml"/><Relationship Id="rId3" Type="http://schemas.openxmlformats.org/officeDocument/2006/relationships/image" Target="../media/glow_soft.png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glow_soft.png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glow_soft.png"/><Relationship Id="rId3" Type="http://schemas.openxmlformats.org/officeDocument/2006/relationships/image" Target="../media/corner_bg.png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glow_soft.png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cover_bg.png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glow_soft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4-1.png"/><Relationship Id="rId2" Type="http://schemas.openxmlformats.org/officeDocument/2006/relationships/image" Target="../media/image-1024-2.png"/><Relationship Id="rId3" Type="http://schemas.openxmlformats.org/officeDocument/2006/relationships/image" Target="../media/image-1024-3.png"/><Relationship Id="rId4" Type="http://schemas.openxmlformats.org/officeDocument/2006/relationships/image" Target="../media/Thank-you-image-4.jpeg"/><Relationship Id="rId5" Type="http://schemas.openxmlformats.org/officeDocument/2006/relationships/slideMaster" Target="../slideMasters/slideMaster1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lcome (lockup)"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Welcome</a:t>
            </a:r>
            <a:endParaRPr lang="en-US" sz="1800" dirty="0"/>
          </a:p>
        </p:txBody>
      </p:sp>
      <p:pic>
        <p:nvPicPr>
          <p:cNvPr id="3" name="Image 0" descr="Envisio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66928"/>
            <a:ext cx="2377440" cy="4769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85455" y="502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spc="32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PRESENTED BY</a:t>
            </a:r>
            <a:endParaRPr lang="en-US" sz="1800" dirty="0"/>
          </a:p>
        </p:txBody>
      </p:sp>
      <p:pic>
        <p:nvPicPr>
          <p:cNvPr id="5" name="Image 1" descr="HighTouch Technologie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822960"/>
            <a:ext cx="2011680" cy="483731"/>
          </a:xfrm>
          <a:prstGeom prst="rect">
            <a:avLst/>
          </a:prstGeom>
        </p:spPr>
      </p:pic>
      <p:pic>
        <p:nvPicPr>
          <p:cNvPr id="9003" name="Welcome script" descr="Welcome, in white scrip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1208" y="320040"/>
            <a:ext cx="5669280" cy="3081130"/>
          </a:xfrm>
          <a:prstGeom prst="rect">
            <a:avLst/>
          </a:prstGeom>
        </p:spPr>
      </p:pic>
      <p:sp>
        <p:nvSpPr>
          <p:cNvPr id="9004" name="To"/>
          <p:cNvSpPr txBox="1"/>
          <p:nvPr/>
        </p:nvSpPr>
        <p:spPr>
          <a:xfrm>
            <a:off x="731520" y="3364992"/>
            <a:ext cx="10728655" cy="310896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2400" b="0" spc="720" dirty="0">
                <a:solidFill>
                  <a:srgbClr val="FFFFFF"/>
                </a:solidFill>
                <a:latin typeface="Montserrat Light"/>
                <a:cs typeface="Montserrat Light"/>
              </a:rPr>
              <a:t>TO</a:t>
            </a:r>
          </a:p>
        </p:txBody>
      </p:sp>
      <p:sp>
        <p:nvSpPr>
          <p:cNvPr id="9005" name="A Night For Vision"/>
          <p:cNvSpPr txBox="1"/>
          <p:nvPr/>
        </p:nvSpPr>
        <p:spPr>
          <a:xfrm>
            <a:off x="731520" y="3675888"/>
            <a:ext cx="10728655" cy="713232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5600" b="1" spc="560" dirty="0">
                <a:solidFill>
                  <a:srgbClr val="FFFFFF"/>
                </a:solidFill>
                <a:latin typeface="Montserrat"/>
                <a:cs typeface="Montserrat"/>
              </a:rPr>
              <a:t>A NIGHT FOR VISION</a:t>
            </a:r>
          </a:p>
        </p:txBody>
      </p:sp>
      <p:sp>
        <p:nvSpPr>
          <p:cNvPr id="9006" name="Envision Gala"/>
          <p:cNvSpPr txBox="1"/>
          <p:nvPr/>
        </p:nvSpPr>
        <p:spPr>
          <a:xfrm>
            <a:off x="731520" y="4407408"/>
            <a:ext cx="10728655" cy="420624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3000" b="0" spc="900" dirty="0">
                <a:solidFill>
                  <a:srgbClr val="FFFFFF"/>
                </a:solidFill>
                <a:latin typeface="Montserrat"/>
                <a:cs typeface="Montserrat"/>
              </a:rPr>
              <a:t>ENVISION GALA</a:t>
            </a:r>
          </a:p>
        </p:txBody>
      </p:sp>
      <p:sp>
        <p:nvSpPr>
          <p:cNvPr id="9007" name="Decorativ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49928" y="5029200"/>
            <a:ext cx="3291840" cy="18288"/>
          </a:xfrm>
          <a:prstGeom prst="rect">
            <a:avLst/>
          </a:prstGeom>
          <a:solidFill>
            <a:srgbClr val="6E0F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8" name="Tagline"/>
          <p:cNvSpPr txBox="1"/>
          <p:nvPr/>
        </p:nvSpPr>
        <p:spPr>
          <a:xfrm>
            <a:off x="731520" y="5230368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2400" b="0" spc="840" dirty="0">
                <a:solidFill>
                  <a:srgbClr val="FFFFFF"/>
                </a:solidFill>
                <a:latin typeface="Montserrat Light"/>
                <a:cs typeface="Montserrat Light"/>
              </a:rPr>
              <a:t>YOUR SUPPORT HELPS MAKE</a:t>
            </a:r>
          </a:p>
          <a:p>
            <a:pPr algn="ctr"/>
            <a:r>
              <a:rPr lang="en-US" sz="2400" b="0" spc="840" dirty="0">
                <a:solidFill>
                  <a:srgbClr val="FFFFFF"/>
                </a:solidFill>
                <a:latin typeface="Montserrat Light"/>
                <a:cs typeface="Montserrat Light"/>
              </a:rPr>
              <a:t>OUR MISSION POSSIBLE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 photo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year and event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731520" y="978408"/>
            <a:ext cx="7223760" cy="4901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2880360"/>
            <a:ext cx="32918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99592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731520" y="5897880"/>
            <a:ext cx="10716768" cy="438912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r" indent="0" marL="0">
              <a:lnSpc>
                <a:spcPct val="125000"/>
              </a:lnSpc>
              <a:buNone/>
              <a:def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2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two portrait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two portraits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731520" y="978408"/>
            <a:ext cx="3383280" cy="4901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pic" idx="102" hasCustomPrompt="1"/>
          </p:nvPr>
        </p:nvSpPr>
        <p:spPr>
          <a:xfrm>
            <a:off x="4480560" y="978408"/>
            <a:ext cx="3383280" cy="4901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5" name="Text 0"/>
          <p:cNvSpPr txBox="1"/>
          <p:nvPr>
            <p:ph type="body" idx="103" hasCustomPrompt="1"/>
          </p:nvPr>
        </p:nvSpPr>
        <p:spPr>
          <a:xfrm>
            <a:off x="7863840" y="2880360"/>
            <a:ext cx="32918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pic>
        <p:nvPicPr>
          <p:cNvPr id="6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995928"/>
            <a:ext cx="201168" cy="201168"/>
          </a:xfrm>
          <a:prstGeom prst="rect">
            <a:avLst/>
          </a:prstGeom>
        </p:spPr>
      </p:pic>
      <p:sp>
        <p:nvSpPr>
          <p:cNvPr id="7" name="Text 0"/>
          <p:cNvSpPr txBox="1"/>
          <p:nvPr>
            <p:ph type="body" idx="105" hasCustomPrompt="1"/>
          </p:nvPr>
        </p:nvSpPr>
        <p:spPr>
          <a:xfrm>
            <a:off x="731520" y="5897880"/>
            <a:ext cx="10716768" cy="438912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r" indent="0" marL="0">
              <a:lnSpc>
                <a:spcPct val="125000"/>
              </a:lnSpc>
              <a:buNone/>
              <a:def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2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2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full bleed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full bleed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6949440" y="3794760"/>
            <a:ext cx="42062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491032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5943600" y="5486400"/>
            <a:ext cx="5504688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lnSpc>
                <a:spcPct val="125000"/>
              </a:lnSpc>
              <a:buNone/>
              <a:defRPr lang="en-US" sz="24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25000"/>
              </a:lnSpc>
              <a:buNone/>
            </a:pPr>
            <a:r>
              <a:rPr lang="en-US" sz="24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24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split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split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0" y="0"/>
            <a:ext cx="7315200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635240" y="2240280"/>
            <a:ext cx="35204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35584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7635240" y="5742432"/>
            <a:ext cx="3822192" cy="5943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r" indent="0" marL="0">
              <a:lnSpc>
                <a:spcPct val="125000"/>
              </a:lnSpc>
              <a:buNone/>
              <a:def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2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pair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pair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731520" y="822960"/>
            <a:ext cx="5212080" cy="35387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pic" idx="102" hasCustomPrompt="1"/>
          </p:nvPr>
        </p:nvSpPr>
        <p:spPr>
          <a:xfrm>
            <a:off x="6245352" y="822960"/>
            <a:ext cx="5212080" cy="35387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5" name="Text 0"/>
          <p:cNvSpPr txBox="1"/>
          <p:nvPr>
            <p:ph type="body" idx="103" hasCustomPrompt="1"/>
          </p:nvPr>
        </p:nvSpPr>
        <p:spPr>
          <a:xfrm>
            <a:off x="731520" y="5897880"/>
            <a:ext cx="6766560" cy="438912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l" indent="0" marL="0">
              <a:lnSpc>
                <a:spcPct val="125000"/>
              </a:lnSpc>
              <a:buNone/>
              <a:def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l" indent="0" marL="0">
              <a:lnSpc>
                <a:spcPct val="12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2200" dirty="0"/>
          </a:p>
        </p:txBody>
      </p:sp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6858000" y="4434840"/>
            <a:ext cx="42976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pic>
        <p:nvPicPr>
          <p:cNvPr id="7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5550408"/>
            <a:ext cx="201168" cy="201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then and now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Then and now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600" spc="47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600" spc="47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NAME</a:t>
            </a:r>
            <a:endParaRPr lang="en-US" sz="2600" dirty="0"/>
          </a:p>
        </p:txBody>
      </p:sp>
      <p:sp>
        <p:nvSpPr>
          <p:cNvPr id="4" name="Text 0"/>
          <p:cNvSpPr txBox="1"/>
          <p:nvPr>
            <p:ph type="pic" idx="102" hasCustomPrompt="1"/>
          </p:nvPr>
        </p:nvSpPr>
        <p:spPr>
          <a:xfrm>
            <a:off x="2194560" y="777240"/>
            <a:ext cx="329184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5" name="Text 0"/>
          <p:cNvSpPr txBox="1"/>
          <p:nvPr>
            <p:ph type="pic" idx="103" hasCustomPrompt="1"/>
          </p:nvPr>
        </p:nvSpPr>
        <p:spPr>
          <a:xfrm>
            <a:off x="6702552" y="777240"/>
            <a:ext cx="329184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2194560" y="5029200"/>
            <a:ext cx="32918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Then</a:t>
            </a:r>
            <a:endParaRPr lang="en-US" sz="5400" dirty="0"/>
          </a:p>
        </p:txBody>
      </p:sp>
      <p:sp>
        <p:nvSpPr>
          <p:cNvPr id="7" name="Text 0"/>
          <p:cNvSpPr txBox="1"/>
          <p:nvPr>
            <p:ph type="body" idx="105" hasCustomPrompt="1"/>
          </p:nvPr>
        </p:nvSpPr>
        <p:spPr>
          <a:xfrm>
            <a:off x="2194560" y="5760720"/>
            <a:ext cx="384048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THEN LABEL</a:t>
            </a:r>
            <a:endParaRPr lang="en-US" sz="2000" dirty="0"/>
          </a:p>
        </p:txBody>
      </p:sp>
      <p:sp>
        <p:nvSpPr>
          <p:cNvPr id="8" name="Text 0"/>
          <p:cNvSpPr txBox="1"/>
          <p:nvPr>
            <p:ph type="body" idx="106" hasCustomPrompt="1"/>
          </p:nvPr>
        </p:nvSpPr>
        <p:spPr>
          <a:xfrm>
            <a:off x="6702552" y="5029200"/>
            <a:ext cx="30175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Now</a:t>
            </a:r>
            <a:endParaRPr lang="en-US" sz="5400" dirty="0"/>
          </a:p>
        </p:txBody>
      </p:sp>
      <p:pic>
        <p:nvPicPr>
          <p:cNvPr id="9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449824"/>
            <a:ext cx="164592" cy="164592"/>
          </a:xfrm>
          <a:prstGeom prst="rect">
            <a:avLst/>
          </a:prstGeom>
        </p:spPr>
      </p:pic>
      <p:sp>
        <p:nvSpPr>
          <p:cNvPr id="10" name="Text 0"/>
          <p:cNvSpPr txBox="1"/>
          <p:nvPr>
            <p:ph type="body" idx="108" hasCustomPrompt="1"/>
          </p:nvPr>
        </p:nvSpPr>
        <p:spPr>
          <a:xfrm>
            <a:off x="6153912" y="5760720"/>
            <a:ext cx="384048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lnSpc>
                <a:spcPct val="120000"/>
              </a:lnSpc>
              <a:buNone/>
              <a:def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2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NOW LABEL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ter Street rendering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Water Street rendering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0" y="0"/>
            <a:ext cx="12191695" cy="5669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Rendering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5715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buNone/>
              <a:defRPr lang="en-US" sz="2400" spc="430" kern="0" dirty="0">
                <a:solidFill>
                  <a:srgbClr val="E4002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2400" spc="430" kern="0" dirty="0">
                <a:solidFill>
                  <a:srgbClr val="E4002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FUTURE</a:t>
            </a:r>
            <a:endParaRPr lang="en-US" sz="2400" dirty="0"/>
          </a:p>
        </p:txBody>
      </p:sp>
      <p:sp>
        <p:nvSpPr>
          <p:cNvPr id="5" name="Text 0"/>
          <p:cNvSpPr txBox="1"/>
          <p:nvPr>
            <p:ph type="body" idx="103" hasCustomPrompt="1"/>
          </p:nvPr>
        </p:nvSpPr>
        <p:spPr>
          <a:xfrm>
            <a:off x="3474720" y="5715000"/>
            <a:ext cx="7982712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buNone/>
              <a:defRPr lang="en-US" sz="2200" spc="3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spc="3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WATER STREET CAMPUS</a:t>
            </a:r>
            <a:endParaRPr lang="en-US" sz="22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present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Presenting sponsor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200" spc="44" kern="0" dirty="0">
                <a:solidFill>
                  <a:srgbClr val="C9C9C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PRESENTING SPONSOR</a:t>
            </a:r>
            <a:endParaRPr lang="en-US" sz="28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3291840" y="2331720"/>
            <a:ext cx="5614416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7" name="Decorativ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98568" y="2194560"/>
            <a:ext cx="2194560" cy="27432"/>
          </a:xfrm>
          <a:prstGeom prst="rect">
            <a:avLst/>
          </a:prstGeom>
          <a:solidFill>
            <a:srgbClr val="9A142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one logo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</a:t>
            </a:r>
            <a:endParaRPr lang="en-US" sz="28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3291840" y="2331720"/>
            <a:ext cx="5614416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two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type="body" idx="104" hasCustomPrompt="1"/>
          </p:nvPr>
        </p:nvSpPr>
        <p:spPr>
          <a:xfrm>
            <a:off x="1280160" y="2286000"/>
            <a:ext cx="42062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7" name="Text 2"/>
          <p:cNvSpPr txBox="1"/>
          <p:nvPr>
            <p:ph type="body" idx="105" hasCustomPrompt="1"/>
          </p:nvPr>
        </p:nvSpPr>
        <p:spPr>
          <a:xfrm>
            <a:off x="6702552" y="2286000"/>
            <a:ext cx="42062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four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8" name="Text 4"/>
          <p:cNvSpPr txBox="1"/>
          <p:nvPr>
            <p:ph type="body" idx="106" hasCustomPrompt="1"/>
          </p:nvPr>
        </p:nvSpPr>
        <p:spPr>
          <a:xfrm>
            <a:off x="1188720" y="1874520"/>
            <a:ext cx="4389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9" name="Text 4"/>
          <p:cNvSpPr txBox="1"/>
          <p:nvPr>
            <p:ph type="body" idx="107" hasCustomPrompt="1"/>
          </p:nvPr>
        </p:nvSpPr>
        <p:spPr>
          <a:xfrm>
            <a:off x="6611112" y="1874520"/>
            <a:ext cx="4389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0" name="Text 4"/>
          <p:cNvSpPr txBox="1"/>
          <p:nvPr>
            <p:ph type="body" idx="108" hasCustomPrompt="1"/>
          </p:nvPr>
        </p:nvSpPr>
        <p:spPr>
          <a:xfrm>
            <a:off x="1188720" y="4251960"/>
            <a:ext cx="4389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1" name="Text 4"/>
          <p:cNvSpPr txBox="1"/>
          <p:nvPr>
            <p:ph type="body" idx="109" hasCustomPrompt="1"/>
          </p:nvPr>
        </p:nvSpPr>
        <p:spPr>
          <a:xfrm>
            <a:off x="6611112" y="4251960"/>
            <a:ext cx="4389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six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10" name="Text 6"/>
          <p:cNvSpPr txBox="1"/>
          <p:nvPr>
            <p:ph type="body" idx="108" hasCustomPrompt="1"/>
          </p:nvPr>
        </p:nvSpPr>
        <p:spPr>
          <a:xfrm>
            <a:off x="1005840" y="192024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1" name="Text 6"/>
          <p:cNvSpPr txBox="1"/>
          <p:nvPr>
            <p:ph type="body" idx="109" hasCustomPrompt="1"/>
          </p:nvPr>
        </p:nvSpPr>
        <p:spPr>
          <a:xfrm>
            <a:off x="4681728" y="192024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2" name="Text 6"/>
          <p:cNvSpPr txBox="1"/>
          <p:nvPr>
            <p:ph type="body" idx="110" hasCustomPrompt="1"/>
          </p:nvPr>
        </p:nvSpPr>
        <p:spPr>
          <a:xfrm>
            <a:off x="8348472" y="192024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3" name="Text 6"/>
          <p:cNvSpPr txBox="1"/>
          <p:nvPr>
            <p:ph type="body" idx="111" hasCustomPrompt="1"/>
          </p:nvPr>
        </p:nvSpPr>
        <p:spPr>
          <a:xfrm>
            <a:off x="1005840" y="420624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4" name="Text 6"/>
          <p:cNvSpPr txBox="1"/>
          <p:nvPr>
            <p:ph type="body" idx="112" hasCustomPrompt="1"/>
          </p:nvPr>
        </p:nvSpPr>
        <p:spPr>
          <a:xfrm>
            <a:off x="4681728" y="420624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5" name="Text 6"/>
          <p:cNvSpPr txBox="1"/>
          <p:nvPr>
            <p:ph type="body" idx="113" hasCustomPrompt="1"/>
          </p:nvPr>
        </p:nvSpPr>
        <p:spPr>
          <a:xfrm>
            <a:off x="8348472" y="420624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three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7" name="Text 3"/>
          <p:cNvSpPr txBox="1"/>
          <p:nvPr>
            <p:ph type="body" idx="105" hasCustomPrompt="1"/>
          </p:nvPr>
        </p:nvSpPr>
        <p:spPr>
          <a:xfrm>
            <a:off x="1005840" y="2423160"/>
            <a:ext cx="2834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8" name="Text 3"/>
          <p:cNvSpPr txBox="1"/>
          <p:nvPr>
            <p:ph type="body" idx="106" hasCustomPrompt="1"/>
          </p:nvPr>
        </p:nvSpPr>
        <p:spPr>
          <a:xfrm>
            <a:off x="4681728" y="2423160"/>
            <a:ext cx="2834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9" name="Text 3"/>
          <p:cNvSpPr txBox="1"/>
          <p:nvPr>
            <p:ph type="body" idx="107" hasCustomPrompt="1"/>
          </p:nvPr>
        </p:nvSpPr>
        <p:spPr>
          <a:xfrm>
            <a:off x="8348472" y="2423160"/>
            <a:ext cx="2834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nine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13" name="Text 9"/>
          <p:cNvSpPr txBox="1"/>
          <p:nvPr>
            <p:ph type="body" idx="111" hasCustomPrompt="1"/>
          </p:nvPr>
        </p:nvSpPr>
        <p:spPr>
          <a:xfrm>
            <a:off x="960120" y="173736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4" name="Text 9"/>
          <p:cNvSpPr txBox="1"/>
          <p:nvPr>
            <p:ph type="body" idx="112" hasCustomPrompt="1"/>
          </p:nvPr>
        </p:nvSpPr>
        <p:spPr>
          <a:xfrm>
            <a:off x="4636008" y="173736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5" name="Text 9"/>
          <p:cNvSpPr txBox="1"/>
          <p:nvPr>
            <p:ph type="body" idx="113" hasCustomPrompt="1"/>
          </p:nvPr>
        </p:nvSpPr>
        <p:spPr>
          <a:xfrm>
            <a:off x="8302752" y="173736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6" name="Text 9"/>
          <p:cNvSpPr txBox="1"/>
          <p:nvPr>
            <p:ph type="body" idx="114" hasCustomPrompt="1"/>
          </p:nvPr>
        </p:nvSpPr>
        <p:spPr>
          <a:xfrm>
            <a:off x="960120" y="342900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7" name="Text 9"/>
          <p:cNvSpPr txBox="1"/>
          <p:nvPr>
            <p:ph type="body" idx="115" hasCustomPrompt="1"/>
          </p:nvPr>
        </p:nvSpPr>
        <p:spPr>
          <a:xfrm>
            <a:off x="4636008" y="342900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8" name="Text 9"/>
          <p:cNvSpPr txBox="1"/>
          <p:nvPr>
            <p:ph type="body" idx="116" hasCustomPrompt="1"/>
          </p:nvPr>
        </p:nvSpPr>
        <p:spPr>
          <a:xfrm>
            <a:off x="8302752" y="342900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9" name="Text 9"/>
          <p:cNvSpPr txBox="1"/>
          <p:nvPr>
            <p:ph type="body" idx="117" hasCustomPrompt="1"/>
          </p:nvPr>
        </p:nvSpPr>
        <p:spPr>
          <a:xfrm>
            <a:off x="960120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20" name="Text 9"/>
          <p:cNvSpPr txBox="1"/>
          <p:nvPr>
            <p:ph type="body" idx="118" hasCustomPrompt="1"/>
          </p:nvPr>
        </p:nvSpPr>
        <p:spPr>
          <a:xfrm>
            <a:off x="4636008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21" name="Text 9"/>
          <p:cNvSpPr txBox="1"/>
          <p:nvPr>
            <p:ph type="body" idx="119" hasCustomPrompt="1"/>
          </p:nvPr>
        </p:nvSpPr>
        <p:spPr>
          <a:xfrm>
            <a:off x="8302752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(one line)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331720"/>
            <a:ext cx="10728655" cy="10058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ctr" indent="0" marL="0">
              <a:buNone/>
              <a:defRPr lang="en-US" sz="4600" spc="10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5400" spc="16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SECTION TITLE</a:t>
            </a:r>
            <a:endParaRPr lang="en-US" sz="46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1371600" y="3703320"/>
            <a:ext cx="9448495" cy="7315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ctr" indent="0" marL="0">
              <a:buNone/>
              <a:def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600" dirty="0" spc="6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Optional second line</a:t>
            </a:r>
            <a:endParaRPr lang="en-US" sz="2800" dirty="0"/>
          </a:p>
        </p:txBody>
      </p:sp>
      <p:sp>
        <p:nvSpPr>
          <p:cNvPr id="7" name="Decorativ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98568" y="3520440"/>
            <a:ext cx="2194560" cy="27432"/>
          </a:xfrm>
          <a:prstGeom prst="rect">
            <a:avLst/>
          </a:prstGeom>
          <a:solidFill>
            <a:srgbClr val="9A142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gram (title and lines)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132588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l" indent="0" marL="0">
              <a:buNone/>
              <a:defRPr lang="en-US" sz="4400" spc="132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400" spc="16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TONIGHT</a:t>
            </a:r>
            <a:endParaRPr lang="en-US" sz="44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1463040" y="2697480"/>
            <a:ext cx="9265615" cy="32918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lnSpc>
                <a:spcPct val="150000"/>
              </a:lnSpc>
              <a:buNone/>
              <a:defRPr lang="en-US" sz="2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indent="0" marL="0" algn="ctr">
              <a:lnSpc>
                <a:spcPct val="150000"/>
              </a:lnSpc>
              <a:buNone/>
            </a:pPr>
            <a:r>
              <a:rPr lang="en-US" sz="28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Program lines</a:t>
            </a:r>
            <a:endParaRPr lang="en-US" sz="2800" dirty="0"/>
          </a:p>
        </p:txBody>
      </p:sp>
      <p:sp>
        <p:nvSpPr>
          <p:cNvPr id="7" name="Decorativ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98568" y="2331720"/>
            <a:ext cx="2194560" cy="27432"/>
          </a:xfrm>
          <a:prstGeom prst="rect">
            <a:avLst/>
          </a:prstGeom>
          <a:solidFill>
            <a:srgbClr val="9A142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aker (with headshot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731520" y="1234440"/>
            <a:ext cx="3566160" cy="4389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Headshot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4846320" y="2331720"/>
            <a:ext cx="6613855" cy="1188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buNone/>
              <a:defRPr lang="en-US" sz="4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 algn="ctr">
              <a:buNone/>
            </a:pPr>
            <a:r>
              <a:rPr lang="en-US" sz="4800" dirty="0" spc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 name</a:t>
            </a:r>
            <a:endParaRPr lang="en-US" sz="4800" dirty="0"/>
          </a:p>
        </p:txBody>
      </p:sp>
      <p:sp>
        <p:nvSpPr>
          <p:cNvPr id="5" name="Text 0"/>
          <p:cNvSpPr txBox="1"/>
          <p:nvPr>
            <p:ph type="body" idx="103" hasCustomPrompt="1"/>
          </p:nvPr>
        </p:nvSpPr>
        <p:spPr>
          <a:xfrm>
            <a:off x="4846320" y="3611880"/>
            <a:ext cx="661385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0000"/>
              </a:lnSpc>
              <a:buNone/>
              <a:defRPr lang="en-US" sz="2800" spc="34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indent="0" marL="0">
              <a:lnSpc>
                <a:spcPct val="120000"/>
              </a:lnSpc>
              <a:buNone/>
            </a:pPr>
            <a:r>
              <a:rPr lang="en-US" sz="2800" spc="34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TITLE OR ROLE</a:t>
            </a:r>
            <a:endParaRPr lang="en-US" sz="2800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aker (no headshot)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4617720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algn="ctr" indent="0" marL="0">
              <a:buNone/>
              <a:defRPr lang="en-US" sz="5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800" dirty="0" spc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 name</a:t>
            </a:r>
            <a:endParaRPr lang="en-US" sz="5400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5532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ctr" indent="0" marL="0">
              <a:lnSpc>
                <a:spcPct val="120000"/>
              </a:lnSpc>
              <a:buNone/>
              <a:defRPr lang="en-US" sz="2800" spc="34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2400" spc="18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TITLE OR ROLE</a:t>
            </a:r>
            <a:endParaRPr lang="en-US" sz="2800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title car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606040"/>
            <a:ext cx="10728655" cy="1371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ctr" indent="0" marL="0">
              <a:lnSpc>
                <a:spcPct val="105000"/>
              </a:lnSpc>
              <a:buNone/>
              <a:defRPr lang="en-US" sz="54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lnSpc>
                <a:spcPct val="105000"/>
              </a:lnSpc>
              <a:buNone/>
            </a:pPr>
            <a:r>
              <a:rPr lang="en-US" sz="6000" dirty="0" spc="16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Video title</a:t>
            </a:r>
            <a:endParaRPr lang="en-US" sz="54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1371600" y="603504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ctr" indent="0" marL="0">
              <a:lnSpc>
                <a:spcPct val="120000"/>
              </a:lnSpc>
              <a:buNone/>
              <a:def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lnSpc>
                <a:spcPct val="120000"/>
              </a:lnSpc>
              <a:buNone/>
            </a:pPr>
            <a:r>
              <a:rPr lang="en-US" sz="2600" dirty="0" spc="6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One-line setup for the emcee</a:t>
            </a:r>
            <a:endParaRPr lang="en-US" sz="2800" dirty="0"/>
          </a:p>
        </p:txBody>
      </p:sp>
      <p:sp>
        <p:nvSpPr>
          <p:cNvPr id="4" name="Decorativ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98568" y="2194560"/>
            <a:ext cx="2194560" cy="27432"/>
          </a:xfrm>
          <a:prstGeom prst="rect">
            <a:avLst/>
          </a:prstGeom>
          <a:solidFill>
            <a:srgbClr val="9A142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d-A-Need lev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buNone/>
              <a:def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buNone/>
              <a:defRPr lang="en-US" sz="190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$0,000</a:t>
            </a:r>
            <a:endParaRPr lang="en-US" sz="8800" dirty="0"/>
          </a:p>
        </p:txBody>
      </p:sp>
      <p:sp>
        <p:nvSpPr>
          <p:cNvPr id="6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lnSpc>
                <a:spcPct val="125000"/>
              </a:lnSpc>
              <a:buNone/>
              <a:defRPr lang="en-US" sz="3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What a gift at this level makes possible</a:t>
            </a:r>
            <a:endParaRPr lang="en-US" sz="3200" dirty="0"/>
          </a:p>
        </p:txBody>
      </p:sp>
      <p:sp>
        <p:nvSpPr>
          <p:cNvPr id="7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buNone/>
              <a:defRPr lang="en-US" sz="2400" spc="29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ALL LEVELS</a:t>
            </a:r>
            <a:endParaRPr lang="en-US" sz="2400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ction or mobile bidd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body" idx="100" hasCustomPrompt="1"/>
          </p:nvPr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MOBILE BIDDING</a:t>
            </a:r>
            <a:endParaRPr lang="en-US" sz="2800" dirty="0"/>
          </a:p>
        </p:txBody>
      </p:sp>
      <p:sp>
        <p:nvSpPr>
          <p:cNvPr id="3" name="Text 0"/>
          <p:cNvSpPr txBox="1"/>
          <p:nvPr>
            <p:ph type="title" idx="101" hasCustomPrompt="1"/>
          </p:nvPr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ctr" indent="0" marL="0">
              <a:buNone/>
              <a:defRPr lang="en-US" sz="44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200" dirty="0" spc="44">
                <a:solidFill>
                  <a:srgbClr val="C9C9C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Bidding closes at 0:00 PM</a:t>
            </a:r>
            <a:endParaRPr lang="en-US" sz="44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4815688" y="2788920"/>
            <a:ext cx="2560320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QR code</a:t>
            </a:r>
            <a:endParaRPr lang="en-US" sz="1800" dirty="0"/>
          </a:p>
        </p:txBody>
      </p:sp>
      <p:sp>
        <p:nvSpPr>
          <p:cNvPr id="6" name="Text 1"/>
          <p:cNvSpPr txBox="1"/>
          <p:nvPr>
            <p:ph type="body" idx="104" hasCustomPrompt="1"/>
          </p:nvPr>
        </p:nvSpPr>
        <p:spPr>
          <a:xfrm>
            <a:off x="731520" y="5760720"/>
            <a:ext cx="10728655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EveningWithEnvision.com</a:t>
            </a:r>
            <a:endParaRPr lang="en-US" sz="3000" dirty="0"/>
          </a:p>
        </p:txBody>
      </p:sp>
      <p:sp>
        <p:nvSpPr>
          <p:cNvPr id="8" name="Decorativ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98568" y="2194560"/>
            <a:ext cx="2194560" cy="27432"/>
          </a:xfrm>
          <a:prstGeom prst="rect">
            <a:avLst/>
          </a:prstGeom>
          <a:solidFill>
            <a:srgbClr val="9A142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nvisio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66928"/>
            <a:ext cx="2377440" cy="4769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85455" y="502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spc="32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PRESENTED BY</a:t>
            </a:r>
            <a:endParaRPr lang="en-US" sz="1800" dirty="0"/>
          </a:p>
        </p:txBody>
      </p:sp>
      <p:pic>
        <p:nvPicPr>
          <p:cNvPr id="4" name="Image 1" descr="HighTouch Technologie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822960"/>
            <a:ext cx="2011680" cy="483731"/>
          </a:xfrm>
          <a:prstGeom prst="rect">
            <a:avLst/>
          </a:prstGeom>
        </p:spPr>
      </p:pic>
      <p:sp>
        <p:nvSpPr>
          <p:cNvPr id="5" name="Text 1"/>
          <p:cNvSpPr txBox="1"/>
          <p:nvPr>
            <p:ph type="title" idx="103" hasCustomPrompt="1"/>
          </p:nvPr>
        </p:nvSpPr>
        <p:spPr>
          <a:xfrm>
            <a:off x="731520" y="2240280"/>
            <a:ext cx="10728655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7200" spc="216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7200" spc="216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8" name="Text 2"/>
          <p:cNvSpPr txBox="1"/>
          <p:nvPr>
            <p:ph type="body" idx="106" hasCustomPrompt="1"/>
          </p:nvPr>
        </p:nvSpPr>
        <p:spPr>
          <a:xfrm>
            <a:off x="1371600" y="4114800"/>
            <a:ext cx="944849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125000"/>
              </a:lnSpc>
              <a:buNone/>
              <a:def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Closing line</a:t>
            </a:r>
            <a:endParaRPr lang="en-US" sz="2800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all sponsors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Presenting sponsor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200" spc="44" kern="0" dirty="0">
                <a:solidFill>
                  <a:srgbClr val="C9C9C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PRESENTING SPONSOR</a:t>
            </a:r>
            <a:endParaRPr lang="en-US" sz="28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3291840" y="2331720"/>
            <a:ext cx="5614416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Relationship Id="rId26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cloud_image-4-1.png"/><Relationship Id="rId3" Type="http://schemas.openxmlformats.org/officeDocument/2006/relationships/image" Target="../media/cloud_logo_forvis_mazars.png"/><Relationship Id="rId4" Type="http://schemas.openxmlformats.org/officeDocument/2006/relationships/image" Target="../media/cloud_logo_allen_exploration.png"/><Relationship Id="rId5" Type="http://schemas.openxmlformats.org/officeDocument/2006/relationships/image" Target="../media/cloud_logo_6_meridian.png"/><Relationship Id="rId6" Type="http://schemas.openxmlformats.org/officeDocument/2006/relationships/image" Target="../media/cloud_logo_ads.png"/><Relationship Id="rId7" Type="http://schemas.openxmlformats.org/officeDocument/2006/relationships/image" Target="../media/cloud_logo_corza_medical.png"/><Relationship Id="rId8" Type="http://schemas.openxmlformats.org/officeDocument/2006/relationships/image" Target="../media/cloud_logo_arsi.png"/><Relationship Id="rId9" Type="http://schemas.openxmlformats.org/officeDocument/2006/relationships/image" Target="../media/cloud_logo_eby.png"/><Relationship Id="rId10" Type="http://schemas.openxmlformats.org/officeDocument/2006/relationships/image" Target="../media/cloud_logo_belleville.png"/><Relationship Id="rId11" Type="http://schemas.openxmlformats.org/officeDocument/2006/relationships/image" Target="../media/cloud_logo_lc_industries_foundation.png"/><Relationship Id="rId12" Type="http://schemas.openxmlformats.org/officeDocument/2006/relationships/image" Target="../media/cloud_logo_ima.png"/><Relationship Id="rId13" Type="http://schemas.openxmlformats.org/officeDocument/2006/relationships/image" Target="../media/cloud_logo_hutton.png"/><Relationship Id="rId14" Type="http://schemas.openxmlformats.org/officeDocument/2006/relationships/image" Target="../media/cloud_logo_enza_financial.png"/><Relationship Id="rId15" Type="http://schemas.openxmlformats.org/officeDocument/2006/relationships/image" Target="../media/cloud_logo_massif.png"/><Relationship Id="rId16" Type="http://schemas.openxmlformats.org/officeDocument/2006/relationships/image" Target="../media/cloud_logo_spr.png"/><Relationship Id="rId17" Type="http://schemas.openxmlformats.org/officeDocument/2006/relationships/image" Target="../media/cloud_logo_summit_films.png"/><Relationship Id="rId18" Type="http://schemas.openxmlformats.org/officeDocument/2006/relationships/image" Target="../media/cloud_logo_vornado.png"/><Relationship Id="rId19" Type="http://schemas.openxmlformats.org/officeDocument/2006/relationships/image" Target="../media/cloud_logo_novolex.png"/><Relationship Id="rId20" Type="http://schemas.openxmlformats.org/officeDocument/2006/relationships/image" Target="../media/cloud_logo_intrust_bank.png"/><Relationship Id="rId2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envision_white_watermark.png"/><Relationship Id="rId3" Type="http://schemas.openxmlformats.org/officeDocument/2006/relationships/image" Target="../media/welcome_script_speaker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envision_white_watermark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nvocation_bg.jp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anthem_bg.jp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hightouch_watermark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WM" Type="http://schemas.openxmlformats.org/officeDocument/2006/relationships/image" Target="../media/logo_6_meridian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aruba_bg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Welcome to A Night For Vision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60604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000" dirty="0" spc="16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Level Up</a:t>
            </a:r>
            <a:endParaRPr lang="en-US" sz="54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1371600" y="603504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dirty="0" spc="6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800" dirty="0"/>
          </a:p>
        </p:txBody>
      </p:sp>
      <p:sp>
        <p:nvSpPr>
          <p:cNvPr id="4" name="Segment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/>
            <a:r>
              <a:rPr lang="en-US" sz="2200" spc="440" dirty="0">
                <a:solidFill>
                  <a:srgbClr val="C9C9C9"/>
                </a:solidFill>
                <a:latin typeface="Montserrat SemiBold" pitchFamily="34" charset="0"/>
                <a:cs typeface="Montserrat SemiBold" pitchFamily="34" charset="0"/>
              </a:rPr>
              <a:t>VIDEO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60604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000" dirty="0" spc="16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</a:t>
            </a:r>
            <a:endParaRPr lang="en-US" sz="54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1371600" y="603504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dirty="0" spc="6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800" dirty="0"/>
          </a:p>
        </p:txBody>
      </p:sp>
      <p:sp>
        <p:nvSpPr>
          <p:cNvPr id="4" name="Segment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/>
            <a:r>
              <a:rPr lang="en-US" sz="2200" spc="440" dirty="0">
                <a:solidFill>
                  <a:srgbClr val="C9C9C9"/>
                </a:solidFill>
                <a:latin typeface="Montserrat SemiBold" pitchFamily="34" charset="0"/>
                <a:cs typeface="Montserrat SemiBold" pitchFamily="34" charset="0"/>
              </a:rPr>
              <a:t>VIDEO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60604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000" dirty="0" spc="16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Water Street</a:t>
            </a:r>
            <a:endParaRPr lang="en-US" sz="54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1371600" y="603504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dirty="0" spc="6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800" dirty="0"/>
          </a:p>
        </p:txBody>
      </p:sp>
      <p:sp>
        <p:nvSpPr>
          <p:cNvPr id="4" name="Segment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/>
            <a:r>
              <a:rPr lang="en-US" sz="2200" spc="440" dirty="0">
                <a:solidFill>
                  <a:srgbClr val="C9C9C9"/>
                </a:solidFill>
                <a:latin typeface="Montserrat SemiBold" pitchFamily="34" charset="0"/>
                <a:cs typeface="Montserrat SemiBold" pitchFamily="34" charset="0"/>
              </a:rPr>
              <a:t>VIDEO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60604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000" dirty="0" spc="16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Child Development Center</a:t>
            </a:r>
            <a:endParaRPr lang="en-US" sz="54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1371600" y="603504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dirty="0" spc="6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800" dirty="0"/>
          </a:p>
        </p:txBody>
      </p:sp>
      <p:sp>
        <p:nvSpPr>
          <p:cNvPr id="4" name="Segment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/>
            <a:r>
              <a:rPr lang="en-US" sz="2200" spc="440" dirty="0">
                <a:solidFill>
                  <a:srgbClr val="C9C9C9"/>
                </a:solidFill>
                <a:latin typeface="Montserrat SemiBold" pitchFamily="34" charset="0"/>
                <a:cs typeface="Montserrat SemiBold" pitchFamily="34" charset="0"/>
              </a:rPr>
              <a:t>VIDEO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60604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000" dirty="0" spc="16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Program Legacy</a:t>
            </a:r>
            <a:endParaRPr lang="en-US" sz="54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1371600" y="603504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dirty="0" spc="6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800" dirty="0"/>
          </a:p>
        </p:txBody>
      </p:sp>
      <p:sp>
        <p:nvSpPr>
          <p:cNvPr id="4" name="Segment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/>
            <a:r>
              <a:rPr lang="en-US" sz="2200" spc="440" dirty="0">
                <a:solidFill>
                  <a:srgbClr val="C9C9C9"/>
                </a:solidFill>
                <a:latin typeface="Montserrat SemiBold" pitchFamily="34" charset="0"/>
                <a:cs typeface="Montserrat SemiBold" pitchFamily="34" charset="0"/>
              </a:rPr>
              <a:t>VIDEO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Thank you to our 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320040"/>
            <a:ext cx="107289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THANK YOU TO OUR SPONSORS</a:t>
            </a:r>
            <a:endParaRPr lang="en-US" sz="2800" dirty="0"/>
          </a:p>
        </p:txBody>
      </p:sp>
      <p:pic>
        <p:nvPicPr>
          <p:cNvPr id="9004" name="HighTouch Technologies logo" descr="HighTouch Technologie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009" y="1435608"/>
            <a:ext cx="3265951" cy="749808"/>
          </a:xfrm>
          <a:prstGeom prst="rect">
            <a:avLst/>
          </a:prstGeom>
        </p:spPr>
      </p:pic>
      <p:pic>
        <p:nvPicPr>
          <p:cNvPr id="9047" name="Forvis Mazars logo" descr="Forvis Mazar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749" y="2889504"/>
            <a:ext cx="1351169" cy="566928"/>
          </a:xfrm>
          <a:prstGeom prst="rect">
            <a:avLst/>
          </a:prstGeom>
        </p:spPr>
      </p:pic>
      <p:pic>
        <p:nvPicPr>
          <p:cNvPr id="9048" name="Allen Exploration logo" descr="Allen Exploration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194" y="2889504"/>
            <a:ext cx="1592885" cy="566928"/>
          </a:xfrm>
          <a:prstGeom prst="rect">
            <a:avLst/>
          </a:prstGeom>
        </p:spPr>
      </p:pic>
      <p:pic>
        <p:nvPicPr>
          <p:cNvPr id="9031" name="SPR logo" descr="SPR logo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38348" y="2916936"/>
            <a:ext cx="1033041" cy="512064"/>
          </a:xfrm>
          <a:prstGeom prst="rect">
            <a:avLst/>
          </a:prstGeom>
        </p:spPr>
      </p:pic>
      <p:pic>
        <p:nvPicPr>
          <p:cNvPr id="9055" name="LC Industries Foundation logo" descr="LC Industries Foundation logo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5541" y="2956837"/>
            <a:ext cx="2103120" cy="432262"/>
          </a:xfrm>
          <a:prstGeom prst="rect">
            <a:avLst/>
          </a:prstGeom>
        </p:spPr>
      </p:pic>
      <p:pic>
        <p:nvPicPr>
          <p:cNvPr id="9049" name="6 Meridian logo" descr="6 Meridian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453" y="4232337"/>
            <a:ext cx="1645920" cy="350141"/>
          </a:xfrm>
          <a:prstGeom prst="rect">
            <a:avLst/>
          </a:prstGeom>
        </p:spPr>
      </p:pic>
      <p:pic>
        <p:nvPicPr>
          <p:cNvPr id="9034" name="Summit Films logo" descr="Summit Films logo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27239" y="4220896"/>
            <a:ext cx="1645920" cy="373024"/>
          </a:xfrm>
          <a:prstGeom prst="rect">
            <a:avLst/>
          </a:prstGeom>
        </p:spPr>
      </p:pic>
      <p:pic>
        <p:nvPicPr>
          <p:cNvPr id="9056" name="IMA logo" descr="IMA 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83921" y="4130893"/>
            <a:ext cx="1024128" cy="553029"/>
          </a:xfrm>
          <a:prstGeom prst="rect">
            <a:avLst/>
          </a:prstGeom>
        </p:spPr>
      </p:pic>
      <p:pic>
        <p:nvPicPr>
          <p:cNvPr id="9057" name="Hutton logo" descr="Hutton 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18811" y="4212641"/>
            <a:ext cx="1645920" cy="389534"/>
          </a:xfrm>
          <a:prstGeom prst="rect">
            <a:avLst/>
          </a:prstGeom>
        </p:spPr>
      </p:pic>
      <p:pic>
        <p:nvPicPr>
          <p:cNvPr id="9037" name="INTRUST Bank logo" descr="INTRUST Bank logo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10317" y="4202414"/>
            <a:ext cx="1554480" cy="409988"/>
          </a:xfrm>
          <a:prstGeom prst="rect">
            <a:avLst/>
          </a:prstGeom>
        </p:spPr>
      </p:pic>
      <p:pic>
        <p:nvPicPr>
          <p:cNvPr id="9050" name="ADS logo" descr="ADS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9109" y="5314493"/>
            <a:ext cx="430608" cy="526694"/>
          </a:xfrm>
          <a:prstGeom prst="rect">
            <a:avLst/>
          </a:prstGeom>
        </p:spPr>
      </p:pic>
      <p:pic>
        <p:nvPicPr>
          <p:cNvPr id="9051" name="Corza Medical logo" descr="Corza Medical 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5221" y="5358384"/>
            <a:ext cx="1409956" cy="438912"/>
          </a:xfrm>
          <a:prstGeom prst="rect">
            <a:avLst/>
          </a:prstGeom>
        </p:spPr>
      </p:pic>
      <p:pic>
        <p:nvPicPr>
          <p:cNvPr id="9052" name="ARSI logo" descr="ARSI log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0165" y="5360850"/>
            <a:ext cx="1691640" cy="433981"/>
          </a:xfrm>
          <a:prstGeom prst="rect">
            <a:avLst/>
          </a:prstGeom>
        </p:spPr>
      </p:pic>
      <p:pic>
        <p:nvPicPr>
          <p:cNvPr id="9053" name="EBY logo" descr="EBY 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6997" y="5358384"/>
            <a:ext cx="989547" cy="438912"/>
          </a:xfrm>
          <a:prstGeom prst="rect">
            <a:avLst/>
          </a:prstGeom>
        </p:spPr>
      </p:pic>
      <p:pic>
        <p:nvPicPr>
          <p:cNvPr id="9054" name="Belleville logo" descr="Belleville log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30993" y="5358384"/>
            <a:ext cx="1113127" cy="438912"/>
          </a:xfrm>
          <a:prstGeom prst="rect">
            <a:avLst/>
          </a:prstGeom>
        </p:spPr>
      </p:pic>
      <p:pic>
        <p:nvPicPr>
          <p:cNvPr id="9058" name="Enza Financial logo" descr="Enza Financial logo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72809" y="5943600"/>
            <a:ext cx="1008993" cy="438912"/>
          </a:xfrm>
          <a:prstGeom prst="rect">
            <a:avLst/>
          </a:prstGeom>
        </p:spPr>
      </p:pic>
      <p:pic>
        <p:nvPicPr>
          <p:cNvPr id="9044" name="Vornado logo" descr="Vornado logo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08094" y="5899709"/>
            <a:ext cx="829995" cy="526694"/>
          </a:xfrm>
          <a:prstGeom prst="rect">
            <a:avLst/>
          </a:prstGeom>
        </p:spPr>
      </p:pic>
      <p:pic>
        <p:nvPicPr>
          <p:cNvPr id="9059" name="Massif logo" descr="Massif logo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99232" y="5921654"/>
            <a:ext cx="739292" cy="482803"/>
          </a:xfrm>
          <a:prstGeom prst="rect">
            <a:avLst/>
          </a:prstGeom>
        </p:spPr>
      </p:pic>
      <p:pic>
        <p:nvPicPr>
          <p:cNvPr id="9046" name="Novolex logo" descr="Novolex logo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04862" y="5943600"/>
            <a:ext cx="1019603" cy="438912"/>
          </a:xfrm>
          <a:prstGeom prst="rect">
            <a:avLst/>
          </a:prstGeom>
        </p:spPr>
      </p:pic>
      <p:sp>
        <p:nvSpPr>
          <p:cNvPr id="9023" name="Tier label"/>
          <p:cNvSpPr txBox="1"/>
          <p:nvPr/>
        </p:nvSpPr>
        <p:spPr>
          <a:xfrm>
            <a:off x="731520" y="960120"/>
            <a:ext cx="10728930" cy="347472"/>
          </a:xfrm>
          <a:prstGeom prst="rect">
            <a:avLst/>
          </a:prstGeom>
          <a:gradFill rotWithShape="1">
            <a:gsLst>
              <a:gs pos="0">
                <a:srgbClr val="5E0E1B"/>
              </a:gs>
              <a:gs pos="100000">
                <a:srgbClr val="9A1428"/>
              </a:gs>
            </a:gsLst>
            <a:lin ang="0" scaled="0"/>
          </a:gradFill>
        </p:spPr>
        <p:txBody>
          <a:bodyPr wrap="square" lIns="0" tIns="0" rIns="0" bIns="0" anchor="ctr" rtlCol="0"/>
          <a:lstStyle/>
          <a:p>
            <a:pPr algn="ctr"/>
            <a:r>
              <a:rPr lang="en-US" sz="1600" b="0" spc="320" dirty="0">
                <a:solidFill>
                  <a:srgbClr val="FFFFFF"/>
                </a:solidFill>
                <a:latin typeface="Montserrat SemiBold"/>
                <a:cs typeface="Montserrat SemiBold"/>
              </a:rPr>
              <a:t>PRESENTING SPONSOR</a:t>
            </a:r>
          </a:p>
        </p:txBody>
      </p:sp>
      <p:sp>
        <p:nvSpPr>
          <p:cNvPr id="9024" name="Tier label"/>
          <p:cNvSpPr txBox="1"/>
          <p:nvPr/>
        </p:nvSpPr>
        <p:spPr>
          <a:xfrm>
            <a:off x="731520" y="2414016"/>
            <a:ext cx="7982689" cy="347472"/>
          </a:xfrm>
          <a:prstGeom prst="rect">
            <a:avLst/>
          </a:prstGeom>
          <a:gradFill rotWithShape="1">
            <a:gsLst>
              <a:gs pos="0">
                <a:srgbClr val="5E0E1B"/>
              </a:gs>
              <a:gs pos="100000">
                <a:srgbClr val="9A1428"/>
              </a:gs>
            </a:gsLst>
            <a:lin ang="0" scaled="0"/>
          </a:gradFill>
        </p:spPr>
        <p:txBody>
          <a:bodyPr wrap="square" lIns="0" tIns="0" rIns="0" bIns="0" anchor="ctr" rtlCol="0"/>
          <a:lstStyle/>
          <a:p>
            <a:pPr algn="ctr"/>
            <a:r>
              <a:rPr lang="en-US" sz="1600" b="0" spc="320" dirty="0">
                <a:solidFill>
                  <a:srgbClr val="FFFFFF"/>
                </a:solidFill>
                <a:latin typeface="Montserrat SemiBold"/>
                <a:cs typeface="Montserrat SemiBold"/>
              </a:rPr>
              <a:t>CORPORATE SPONSORS</a:t>
            </a:r>
          </a:p>
        </p:txBody>
      </p:sp>
      <p:sp>
        <p:nvSpPr>
          <p:cNvPr id="9025" name="Tier label"/>
          <p:cNvSpPr txBox="1"/>
          <p:nvPr/>
        </p:nvSpPr>
        <p:spPr>
          <a:xfrm>
            <a:off x="8842225" y="2414016"/>
            <a:ext cx="2618224" cy="347472"/>
          </a:xfrm>
          <a:prstGeom prst="rect">
            <a:avLst/>
          </a:prstGeom>
          <a:gradFill rotWithShape="1">
            <a:gsLst>
              <a:gs pos="0">
                <a:srgbClr val="5E0E1B"/>
              </a:gs>
              <a:gs pos="100000">
                <a:srgbClr val="9A1428"/>
              </a:gs>
            </a:gsLst>
            <a:lin ang="0" scaled="0"/>
          </a:gradFill>
        </p:spPr>
        <p:txBody>
          <a:bodyPr wrap="square" lIns="0" tIns="0" rIns="0" bIns="0" anchor="ctr" rtlCol="0"/>
          <a:lstStyle/>
          <a:p>
            <a:pPr algn="ctr"/>
            <a:r>
              <a:rPr lang="en-US" sz="1600" b="0" spc="320" dirty="0">
                <a:solidFill>
                  <a:srgbClr val="FFFFFF"/>
                </a:solidFill>
                <a:latin typeface="Montserrat SemiBold"/>
                <a:cs typeface="Montserrat SemiBold"/>
              </a:rPr>
              <a:t>PLATINUM LEVEL</a:t>
            </a:r>
          </a:p>
        </p:txBody>
      </p:sp>
      <p:sp>
        <p:nvSpPr>
          <p:cNvPr id="9026" name="Tier label"/>
          <p:cNvSpPr txBox="1"/>
          <p:nvPr/>
        </p:nvSpPr>
        <p:spPr>
          <a:xfrm>
            <a:off x="731520" y="3685032"/>
            <a:ext cx="8519136" cy="347472"/>
          </a:xfrm>
          <a:prstGeom prst="rect">
            <a:avLst/>
          </a:prstGeom>
          <a:gradFill rotWithShape="1">
            <a:gsLst>
              <a:gs pos="0">
                <a:srgbClr val="5E0E1B"/>
              </a:gs>
              <a:gs pos="100000">
                <a:srgbClr val="9A1428"/>
              </a:gs>
            </a:gsLst>
            <a:lin ang="0" scaled="0"/>
          </a:gradFill>
        </p:spPr>
        <p:txBody>
          <a:bodyPr wrap="square" lIns="0" tIns="0" rIns="0" bIns="0" anchor="ctr" rtlCol="0"/>
          <a:lstStyle/>
          <a:p>
            <a:pPr algn="ctr"/>
            <a:r>
              <a:rPr lang="en-US" sz="1600" b="0" spc="320" dirty="0">
                <a:solidFill>
                  <a:srgbClr val="FFFFFF"/>
                </a:solidFill>
                <a:latin typeface="Montserrat SemiBold"/>
                <a:cs typeface="Montserrat SemiBold"/>
              </a:rPr>
              <a:t>DIAMOND LEVEL</a:t>
            </a:r>
          </a:p>
        </p:txBody>
      </p:sp>
      <p:sp>
        <p:nvSpPr>
          <p:cNvPr id="9027" name="Tier label"/>
          <p:cNvSpPr txBox="1"/>
          <p:nvPr/>
        </p:nvSpPr>
        <p:spPr>
          <a:xfrm>
            <a:off x="9378672" y="3685032"/>
            <a:ext cx="2081778" cy="347472"/>
          </a:xfrm>
          <a:prstGeom prst="rect">
            <a:avLst/>
          </a:prstGeom>
          <a:gradFill rotWithShape="1">
            <a:gsLst>
              <a:gs pos="0">
                <a:srgbClr val="5E0E1B"/>
              </a:gs>
              <a:gs pos="100000">
                <a:srgbClr val="9A1428"/>
              </a:gs>
            </a:gsLst>
            <a:lin ang="0" scaled="0"/>
          </a:gradFill>
        </p:spPr>
        <p:txBody>
          <a:bodyPr wrap="square" lIns="0" tIns="0" rIns="0" bIns="0" anchor="ctr" rtlCol="0"/>
          <a:lstStyle/>
          <a:p>
            <a:pPr algn="ctr"/>
            <a:r>
              <a:rPr lang="en-US" sz="1600" b="0" spc="320" dirty="0">
                <a:solidFill>
                  <a:srgbClr val="FFFFFF"/>
                </a:solidFill>
                <a:latin typeface="Montserrat SemiBold"/>
                <a:cs typeface="Montserrat SemiBold"/>
              </a:rPr>
              <a:t>GOLD LEVEL</a:t>
            </a:r>
          </a:p>
        </p:txBody>
      </p:sp>
      <p:sp>
        <p:nvSpPr>
          <p:cNvPr id="9028" name="Tier label"/>
          <p:cNvSpPr txBox="1"/>
          <p:nvPr/>
        </p:nvSpPr>
        <p:spPr>
          <a:xfrm>
            <a:off x="731520" y="4882896"/>
            <a:ext cx="10728930" cy="347472"/>
          </a:xfrm>
          <a:prstGeom prst="rect">
            <a:avLst/>
          </a:prstGeom>
          <a:gradFill rotWithShape="1">
            <a:gsLst>
              <a:gs pos="0">
                <a:srgbClr val="5E0E1B"/>
              </a:gs>
              <a:gs pos="100000">
                <a:srgbClr val="9A1428"/>
              </a:gs>
            </a:gsLst>
            <a:lin ang="0" scaled="0"/>
          </a:gradFill>
        </p:spPr>
        <p:txBody>
          <a:bodyPr wrap="square" lIns="0" tIns="0" rIns="0" bIns="0" anchor="ctr" rtlCol="0"/>
          <a:lstStyle/>
          <a:p>
            <a:pPr algn="ctr"/>
            <a:r>
              <a:rPr lang="en-US" sz="1600" b="0" spc="320" dirty="0">
                <a:solidFill>
                  <a:srgbClr val="FFFFFF"/>
                </a:solidFill>
                <a:latin typeface="Montserrat SemiBold"/>
                <a:cs typeface="Montserrat SemiBold"/>
              </a:rPr>
              <a:t>SILVER LEVEL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type="title" idx="103" hasCustomPrompt="1"/>
          </p:nvPr>
        </p:nvSpPr>
        <p:spPr>
          <a:xfrm>
            <a:off x="731520" y="2240280"/>
            <a:ext cx="107286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spc="216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3" name="Text 2"/>
          <p:cNvSpPr txBox="1"/>
          <p:nvPr>
            <p:ph type="body" idx="106" hasCustomPrompt="1"/>
          </p:nvPr>
        </p:nvSpPr>
        <p:spPr>
          <a:xfrm>
            <a:off x="1371600" y="4114800"/>
            <a:ext cx="94484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generosity creates new possibilities for generations to come.</a:t>
            </a:r>
            <a:endParaRPr lang="en-US" sz="28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33172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spc="16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PLEASE FIND A SEAT</a:t>
            </a:r>
            <a:endParaRPr lang="en-US" sz="4600" dirty="0"/>
          </a:p>
        </p:txBody>
      </p:sp>
      <p:sp>
        <p:nvSpPr>
          <p:cNvPr id="3" name="Text 1"/>
          <p:cNvSpPr txBox="1"/>
          <p:nvPr>
            <p:ph type="body" idx="103" hasCustomPrompt="1"/>
          </p:nvPr>
        </p:nvSpPr>
        <p:spPr>
          <a:xfrm>
            <a:off x="1371600" y="3703320"/>
            <a:ext cx="9448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 spc="6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The program will begin shortly</a:t>
            </a:r>
            <a:endParaRPr lang="en-US" sz="280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4" name="Envision watermark" descr="Envision logo, white, faded"/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4937760" y="1554480"/>
            <a:ext cx="6766560" cy="1192157"/>
          </a:xfrm>
          <a:prstGeom prst="rect">
            <a:avLst/>
          </a:prstGeom>
        </p:spPr>
      </p:pic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Speakers: Molly Edwards-Workman and Courtney Wages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3520440"/>
            <a:ext cx="8778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200"/>
              </a:spcAft>
            </a:pPr>
            <a:r>
              <a:rPr lang="en-US" sz="3800" spc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0"/>
              </a:rPr>
              <a:t>Molly Edwards-Workman</a:t>
            </a:r>
          </a:p>
          <a:p>
            <a:pPr algn="l">
              <a:spcAft>
                <a:spcPts val="2400"/>
              </a:spcAft>
            </a:pPr>
            <a:r>
              <a:rPr lang="en-US" sz="2000" spc="340" dirty="0">
                <a:solidFill>
                  <a:srgbClr val="C9C9C9"/>
                </a:solidFill>
                <a:latin typeface="Montserrat Light" pitchFamily="34" charset="0"/>
                <a:cs typeface="Montserrat Light" pitchFamily="34" charset="0"/>
              </a:rPr>
              <a:t>SENIOR VICE PRESIDENT, FOUNDATION AND MISSION SERVICES</a:t>
            </a:r>
          </a:p>
          <a:p>
            <a:pPr algn="l">
              <a:spcAft>
                <a:spcPts val="200"/>
              </a:spcAft>
            </a:pPr>
            <a:r>
              <a:rPr lang="en-US" sz="3800" spc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0"/>
              </a:rPr>
              <a:t>Courtney Wages</a:t>
            </a:r>
          </a:p>
          <a:p>
            <a:pPr algn="l">
              <a:spcAft>
                <a:spcPts val="0"/>
              </a:spcAft>
            </a:pPr>
            <a:r>
              <a:rPr lang="en-US" sz="2000" spc="340" dirty="0">
                <a:solidFill>
                  <a:srgbClr val="C9C9C9"/>
                </a:solidFill>
                <a:latin typeface="Montserrat Light" pitchFamily="34" charset="0"/>
                <a:cs typeface="Montserrat Light" pitchFamily="34" charset="0"/>
              </a:rPr>
              <a:t>SENIOR MANAGER, COMMUNITY PROGRAMS, EVENTS AND OUTREACH</a:t>
            </a:r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5532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spc="18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800" dirty="0"/>
          </a:p>
        </p:txBody>
      </p:sp>
      <p:pic>
        <p:nvPicPr>
          <p:cNvPr id="9005" name="Welcome script" descr="Courtney lettering in scrip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3196742" cy="17373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4" name="Envision watermark" descr="Envision logo, white, faded"/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4937760" y="1554480"/>
            <a:ext cx="6766560" cy="1192157"/>
          </a:xfrm>
          <a:prstGeom prst="rect">
            <a:avLst/>
          </a:prstGeom>
        </p:spPr>
      </p:pic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Speaker: Michael Monteferrante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46177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dirty="0" spc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Michael Monteferrante</a:t>
            </a:r>
            <a:endParaRPr lang="en-US" sz="5400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5532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spc="18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PRESIDENT AND CEO</a:t>
            </a:r>
            <a:endParaRPr lang="en-US" sz="280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Speaker: Rev. Dr. Robin McGonigle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46177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dirty="0" spc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Rev. Dr. Robin McGonigle</a:t>
            </a:r>
            <a:endParaRPr lang="en-US" sz="5400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5532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spc="18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800" dirty="0"/>
          </a:p>
        </p:txBody>
      </p:sp>
      <p:sp>
        <p:nvSpPr>
          <p:cNvPr id="9003" name="Segment"/>
          <p:cNvSpPr txBox="1"/>
          <p:nvPr/>
        </p:nvSpPr>
        <p:spPr>
          <a:xfrm>
            <a:off x="731520" y="416052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b" rtlCol="0"/>
          <a:lstStyle/>
          <a:p>
            <a:pPr algn="l"/>
            <a:r>
              <a:rPr lang="en-US" sz="2000" spc="40" dirty="0">
                <a:solidFill>
                  <a:srgbClr val="C9C9C9"/>
                </a:solidFill>
                <a:latin typeface="Montserrat SemiBold"/>
                <a:cs typeface="Montserrat SemiBold"/>
              </a:rPr>
              <a:t>INVOCATION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Speaker: Hashim Syed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46177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dirty="0" spc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Hashim Syed</a:t>
            </a:r>
            <a:endParaRPr lang="en-US" sz="5400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5532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spc="18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PROGRAM PARTICIPANT</a:t>
            </a:r>
            <a:endParaRPr lang="en-US" sz="2800" dirty="0"/>
          </a:p>
        </p:txBody>
      </p:sp>
      <p:sp>
        <p:nvSpPr>
          <p:cNvPr id="9003" name="Segment"/>
          <p:cNvSpPr txBox="1"/>
          <p:nvPr/>
        </p:nvSpPr>
        <p:spPr>
          <a:xfrm>
            <a:off x="731520" y="416052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b" rtlCol="0"/>
          <a:lstStyle/>
          <a:p>
            <a:pPr algn="l"/>
            <a:r>
              <a:rPr lang="en-US" sz="2000" spc="40" dirty="0">
                <a:solidFill>
                  <a:srgbClr val="C9C9C9"/>
                </a:solidFill>
                <a:latin typeface="Montserrat SemiBold"/>
                <a:cs typeface="Montserrat SemiBold"/>
              </a:rPr>
              <a:t>NATIONAL ANTHEM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132588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spc="16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ENVISION’S MISSION</a:t>
            </a:r>
            <a:endParaRPr lang="en-US" sz="4400" dirty="0"/>
          </a:p>
        </p:txBody>
      </p:sp>
      <p:sp>
        <p:nvSpPr>
          <p:cNvPr id="3" name="Text 1"/>
          <p:cNvSpPr txBox="1"/>
          <p:nvPr>
            <p:ph type="body" idx="103" hasCustomPrompt="1"/>
          </p:nvPr>
        </p:nvSpPr>
        <p:spPr>
          <a:xfrm>
            <a:off x="1463040" y="2697480"/>
            <a:ext cx="92656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50000"/>
              </a:lnSpc>
              <a:buNone/>
            </a:pPr>
            <a:r>
              <a:rPr lang="en-US" sz="28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To improve the quality of life and provide inspiration and opportunity for people who are blind or have low vision through employment, outreach, rehabilitation, education and research.</a:t>
            </a:r>
            <a:endParaRPr lang="en-US" sz="2800" dirty="0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4" name="HighTouch watermark" descr="HighTouch Technologies logo, faded"/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5120640" y="1417320"/>
            <a:ext cx="6583680" cy="1511503"/>
          </a:xfrm>
          <a:prstGeom prst="rect">
            <a:avLst/>
          </a:prstGeom>
        </p:spPr>
      </p:pic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Speaker: Andrew Kon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46177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dirty="0" spc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Andrew Kon</a:t>
            </a:r>
            <a:endParaRPr lang="en-US" sz="5400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5532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spc="18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REGIONAL DIRECTOR, TECHNOLOGY SOLUTIONS</a:t>
            </a:r>
            <a:endParaRPr lang="en-US" sz="2800" dirty="0"/>
          </a:p>
        </p:txBody>
      </p:sp>
      <p:sp>
        <p:nvSpPr>
          <p:cNvPr id="9003" name="Segment"/>
          <p:cNvSpPr txBox="1"/>
          <p:nvPr/>
        </p:nvSpPr>
        <p:spPr>
          <a:xfrm>
            <a:off x="731520" y="416052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b" rtlCol="0"/>
          <a:lstStyle/>
          <a:p>
            <a:pPr algn="l"/>
            <a:r>
              <a:rPr lang="en-US" sz="2000" spc="40" dirty="0">
                <a:solidFill>
                  <a:srgbClr val="C9C9C9"/>
                </a:solidFill>
                <a:latin typeface="Montserrat SemiBold"/>
                <a:cs typeface="Montserrat SemiBold"/>
              </a:rPr>
              <a:t>THANK YOU TO OUR PRESENTING SPONSOR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4" name="6 Meridian watermark" descr="6 Meridian logo, faded"/>
          <p:cNvPicPr>
            <a:picLocks noChangeAspect="1"/>
          </p:cNvPicPr>
          <p:nvPr/>
        </p:nvPicPr>
        <p:blipFill>
          <a:blip r:embed="rIdWM">
            <a:alphaModFix amt="22000"/>
          </a:blip>
          <a:stretch>
            <a:fillRect/>
          </a:stretch>
        </p:blipFill>
        <p:spPr>
          <a:xfrm>
            <a:off x="4754880" y="1737360"/>
            <a:ext cx="6949440" cy="1478375"/>
          </a:xfrm>
          <a:prstGeom prst="rect">
            <a:avLst/>
          </a:prstGeom>
        </p:spPr>
      </p:pic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Spirit of Philanthropy Award: 6 Meridian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46177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dirty="0" spc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6 Meridian</a:t>
            </a:r>
            <a:endParaRPr lang="en-US" sz="5400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5532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spc="18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800" dirty="0"/>
          </a:p>
        </p:txBody>
      </p:sp>
      <p:sp>
        <p:nvSpPr>
          <p:cNvPr id="9003" name="Segment"/>
          <p:cNvSpPr txBox="1"/>
          <p:nvPr/>
        </p:nvSpPr>
        <p:spPr>
          <a:xfrm>
            <a:off x="731520" y="416052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b" rtlCol="0"/>
          <a:lstStyle/>
          <a:p>
            <a:pPr algn="l"/>
            <a:r>
              <a:rPr lang="en-US" sz="2000" spc="40" dirty="0">
                <a:solidFill>
                  <a:srgbClr val="C9C9C9"/>
                </a:solidFill>
                <a:latin typeface="Montserrat SemiBold"/>
                <a:cs typeface="Montserrat SemiBold"/>
              </a:rPr>
              <a:t>SPIRIT OF PHILANTHROPY AWARD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132588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spc="16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FUND-A-NEED</a:t>
            </a:r>
            <a:endParaRPr lang="en-US" sz="4400" dirty="0"/>
          </a:p>
        </p:txBody>
      </p:sp>
      <p:sp>
        <p:nvSpPr>
          <p:cNvPr id="3" name="Text 1"/>
          <p:cNvSpPr txBox="1"/>
          <p:nvPr>
            <p:ph type="body" idx="103" hasCustomPrompt="1"/>
          </p:nvPr>
        </p:nvSpPr>
        <p:spPr>
          <a:xfrm>
            <a:off x="1463040" y="2697480"/>
            <a:ext cx="92656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50000"/>
              </a:lnSpc>
              <a:buNone/>
            </a:pPr>
            <a:r>
              <a:rPr lang="en-US" sz="28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Foundation and Mission Services provides life-enhancing services for every age and stage of vision loss. 100% of your gift goes directly to mission services for people who are blind or have low vision.</a:t>
            </a:r>
            <a:endParaRPr lang="en-US" sz="2800" dirty="0"/>
          </a:p>
          <a:p>
            <a:pPr indent="0" marL="0" algn="ctr">
              <a:lnSpc>
                <a:spcPct val="150000"/>
              </a:lnSpc>
              <a:buNone/>
            </a:pPr>
            <a:r>
              <a:rPr lang="en-US" sz="28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Tonight, you can make an impact.</a:t>
            </a:r>
            <a:endParaRPr lang="en-US" sz="2800" dirty="0"/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1: $50,000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$50,000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2: $30,000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$30,000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3: $25,000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$25,000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4: $15,000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$15,000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5: $10,000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$10,000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6: $5,000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$5,000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7: $2,500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$2,500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8: $1,500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$1,500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9: $500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$500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10: $200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$200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33172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spc="16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LAST CHANCE TO GIVE</a:t>
            </a:r>
            <a:endParaRPr lang="en-US" sz="4600" dirty="0"/>
          </a:p>
        </p:txBody>
      </p:sp>
      <p:sp>
        <p:nvSpPr>
          <p:cNvPr id="3" name="Text 1"/>
          <p:cNvSpPr txBox="1"/>
          <p:nvPr>
            <p:ph type="body" idx="103" hasCustomPrompt="1"/>
          </p:nvPr>
        </p:nvSpPr>
        <p:spPr>
          <a:xfrm>
            <a:off x="1371600" y="3703320"/>
            <a:ext cx="9448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 spc="6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Your gift tonight goes straight to mission services</a:t>
            </a:r>
            <a:endParaRPr lang="en-US" sz="2800" dirty="0"/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ce draw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Chance drawing: trip to Aruba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CHANCE DRAWING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24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Trip to Aruba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 for a chance to win.</a:t>
            </a:r>
            <a:br>
              <a:rPr lang="en-US" sz="2600" dirty="0" spc="2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2600" dirty="0" spc="2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Tickets are available from Envision team members.</a:t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Envision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Envision Gala 2026: Program</dc:title>
  <dc:subject>PptxGenJS Presentation</dc:subject>
  <dc:creator>Envision Marketing</dc:creator>
  <cp:lastModifiedBy>Envision Marketing</cp:lastModifiedBy>
  <cp:revision>1</cp:revision>
  <dcterms:created xsi:type="dcterms:W3CDTF">2026-09-15T19:36:45Z</dcterms:created>
  <dcterms:modified xsi:type="dcterms:W3CDTF">2026-09-15T19:36:45Z</dcterms:modified>
</cp:coreProperties>
</file>