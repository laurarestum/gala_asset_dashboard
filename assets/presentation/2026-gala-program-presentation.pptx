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nthem_bg.jpg" ContentType="image/jpg"/>
  <Override PartName="/ppt/media/aruba_bg.jpg" ContentType="image/jpg"/>
  <Override PartName="/ppt/media/invocation_bg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70" r:id="rId21"/>
    <p:sldId id="271" r:id="rId22"/>
    <p:sldId id="273" r:id="rId24"/>
    <p:sldId id="274" r:id="rId25"/>
    <p:sldId id="275" r:id="rId26"/>
    <p:sldId id="276" r:id="rId27"/>
    <p:sldId id="279" r:id="rId30"/>
    <p:sldId id="294" r:id="rId45"/>
    <p:sldId id="265" r:id="rId11"/>
    <p:sldId id="272" r:id="rId23"/>
    <p:sldId id="280" r:id="rId31"/>
    <p:sldId id="281" r:id="rId32"/>
    <p:sldId id="263" r:id="rId9"/>
    <p:sldId id="295" r:id="rId50"/>
    <p:sldId id="282" r:id="rId33"/>
    <p:sldId id="262" r:id="rId8"/>
    <p:sldId id="296" r:id="rId51"/>
    <p:sldId id="283" r:id="rId34"/>
    <p:sldId id="264" r:id="rId10"/>
    <p:sldId id="297" r:id="rId52"/>
    <p:sldId id="284" r:id="rId35"/>
    <p:sldId id="261" r:id="rId7"/>
    <p:sldId id="298" r:id="rId53"/>
    <p:sldId id="286" r:id="rId37"/>
    <p:sldId id="287" r:id="rId38"/>
    <p:sldId id="288" r:id="rId39"/>
    <p:sldId id="289" r:id="rId40"/>
    <p:sldId id="291" r:id="rId42"/>
    <p:sldId id="290" r:id="rId41"/>
    <p:sldId id="292" r:id="rId43"/>
    <p:sldId id="269" r:id="rId15"/>
    <p:sldId id="299" r:id="rId36"/>
  </p:sldIdLst>
  <p:notesMasterIdLst>
    <p:notesMasterId r:id="rId16"/>
  </p:notesMasterIdLst>
  <p:sldSz cx="12192000" cy="6858000"/>
  <p:notesSz cx="6858000" cy="12192000"/>
  <p:embeddedFontLst>
    <p:embeddedFont>
      <p:font typeface="Montserrat Light" panose="00000000000000000000" pitchFamily="2" charset="0"/>
      <p:regular r:id="rId46"/>
    </p:embeddedFont>
    <p:embeddedFont>
      <p:font typeface="Montserrat SemiBold" panose="00000000000000000000" pitchFamily="2" charset="0"/>
      <p:regular r:id="rId47"/>
    </p:embeddedFont>
    <p:embeddedFont>
      <p:font typeface="Montserrat" panose="00000000000000000000" pitchFamily="2" charset="0"/>
      <p:regular r:id="rId48"/>
      <p:bold r:id="rId4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23.xml"/><Relationship Id="rId8" Type="http://schemas.openxmlformats.org/officeDocument/2006/relationships/slide" Target="slides/slide17.xml"/><Relationship Id="rId9" Type="http://schemas.openxmlformats.org/officeDocument/2006/relationships/slide" Target="slides/slide14.xml"/><Relationship Id="rId10" Type="http://schemas.openxmlformats.org/officeDocument/2006/relationships/slide" Target="slides/slide20.xml"/><Relationship Id="rId11" Type="http://schemas.openxmlformats.org/officeDocument/2006/relationships/slide" Target="slides/slide10.xml"/><Relationship Id="rId15" Type="http://schemas.openxmlformats.org/officeDocument/2006/relationships/slide" Target="slides/slide3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11.xml"/><Relationship Id="rId24" Type="http://schemas.openxmlformats.org/officeDocument/2006/relationships/slide" Target="slides/slide4.xml"/><Relationship Id="rId25" Type="http://schemas.openxmlformats.org/officeDocument/2006/relationships/slide" Target="slides/slide5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6.xml"/><Relationship Id="rId34" Type="http://schemas.openxmlformats.org/officeDocument/2006/relationships/slide" Target="slides/slide19.xml"/><Relationship Id="rId35" Type="http://schemas.openxmlformats.org/officeDocument/2006/relationships/slide" Target="slides/slide22.xml"/><Relationship Id="rId36" Type="http://schemas.openxmlformats.org/officeDocument/2006/relationships/slide" Target="slides/slide33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30.xml"/><Relationship Id="rId42" Type="http://schemas.openxmlformats.org/officeDocument/2006/relationships/slide" Target="slides/slide29.xml"/><Relationship Id="rId43" Type="http://schemas.openxmlformats.org/officeDocument/2006/relationships/slide" Target="slides/slide31.xml"/><Relationship Id="rId45" Type="http://schemas.openxmlformats.org/officeDocument/2006/relationships/slide" Target="slides/slide9.xml"/><Relationship Id="rId46" Type="http://schemas.openxmlformats.org/officeDocument/2006/relationships/font" Target="fonts/font1.fntdata"/><Relationship Id="rId47" Type="http://schemas.openxmlformats.org/officeDocument/2006/relationships/font" Target="fonts/font2.fntdata"/><Relationship Id="rId48" Type="http://schemas.openxmlformats.org/officeDocument/2006/relationships/font" Target="fonts/font3.fntdata"/><Relationship Id="rId49" Type="http://schemas.openxmlformats.org/officeDocument/2006/relationships/font" Target="fonts/font4.fntdata"/><Relationship Id="rId50" Type="http://schemas.openxmlformats.org/officeDocument/2006/relationships/slide" Target="slides/slide15.xml"/><Relationship Id="rId51" Type="http://schemas.openxmlformats.org/officeDocument/2006/relationships/slide" Target="slides/slide18.xml"/><Relationship Id="rId52" Type="http://schemas.openxmlformats.org/officeDocument/2006/relationships/slide" Target="slides/slide21.xml"/><Relationship Id="rId53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deck advances on click only (no auto-advance). Video slides are title cards; AV plays the videos from a separate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1 (Level Up).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2 (Heather’s Camp).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3 (Water Street).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4 (Envision Child Development Center).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CUE: AV rolls video 5 (Program Legacy). Working title and setup line; replace with the final on-screen title once the videos are locked. The card holds on screen until AV switches source and returns to the deck afterward.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Edit the line as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Relationship Id="rId3" Type="http://schemas.openxmlformats.org/officeDocument/2006/relationships/image" Target="../media/glow_soft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Relationship Id="rId3" Type="http://schemas.openxmlformats.org/officeDocument/2006/relationships/image" Target="../media/corner_bg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cover_bg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glow_soft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722376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480560" y="978408"/>
            <a:ext cx="3383280" cy="4901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2880360"/>
            <a:ext cx="3291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99592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897880"/>
            <a:ext cx="10716768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94760"/>
            <a:ext cx="4206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491032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2240280"/>
            <a:ext cx="35204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335584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742432"/>
            <a:ext cx="3822192" cy="5943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2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897880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2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4434840"/>
            <a:ext cx="4297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550408"/>
            <a:ext cx="201168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194560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702552" y="777240"/>
            <a:ext cx="3291840" cy="4206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194560" y="5029200"/>
            <a:ext cx="32918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194560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702552" y="5029200"/>
            <a:ext cx="30175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pic>
        <p:nvPicPr>
          <p:cNvPr id="9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449824"/>
            <a:ext cx="164592" cy="164592"/>
          </a:xfrm>
          <a:prstGeom prst="rect">
            <a:avLst/>
          </a:prstGeom>
        </p:spPr>
      </p:pic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153912" y="5760720"/>
            <a:ext cx="384048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lnSpc>
                <a:spcPct val="12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2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28600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87452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2519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920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20624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42316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73736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42900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5120640"/>
            <a:ext cx="2926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352044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33172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One-line setup for the emcee</a:t>
            </a:r>
            <a:endParaRPr lang="en-US" sz="2800" dirty="0"/>
          </a:p>
        </p:txBody>
      </p:sp>
      <p:sp>
        <p:nvSpPr>
          <p:cNvPr id="4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190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dirty="0" spc="44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8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8568" y="2194560"/>
            <a:ext cx="2194560" cy="27432"/>
          </a:xfrm>
          <a:prstGeom prst="rect">
            <a:avLst/>
          </a:prstGeom>
          <a:solidFill>
            <a:srgbClr val="9A142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all sponsors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00" spc="44" kern="0" dirty="0">
                <a:solidFill>
                  <a:srgbClr val="C9C9C9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33172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Relationship Id="rId26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Relationship Id="rId3" Type="http://schemas.openxmlformats.org/officeDocument/2006/relationships/image" Target="../media/welcome_script_speaker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nvocation_bg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anthem_bg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hightouch_watermark.png"/></Relationships>
</file>

<file path=ppt/slides/_rels/slide8.xml.rels><?xml version='1.0' encoding='UTF-8' standalone='yes'?>
<Relationships xmlns="http://schemas.openxmlformats.org/package/2006/relationships"><Relationship Id="rIdAward" Type="http://schemas.openxmlformats.org/officeDocument/2006/relationships/image" Target="../media/award_2026_crystal.png"/><Relationship Id="rIdWM" Type="http://schemas.openxmlformats.org/officeDocument/2006/relationships/image" Target="../media/logo_6_meridian.png"/><Relationship Id="rId1" Type="http://schemas.openxmlformats.org/officeDocument/2006/relationships/slideLayout" Target="../slideLayouts/slideLayout2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envision_white_watermark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9.xml.rels><?xml version='1.0' encoding='UTF-8' standalone='yes'?>
<Relationships xmlns="http://schemas.openxmlformats.org/package/2006/relationships"><Relationship Id="rIdPaddleBg" Type="http://schemas.openxmlformats.org/officeDocument/2006/relationships/image" Target="../media/corner_bg.png"/><Relationship Id="rId1" Type="http://schemas.openxmlformats.org/officeDocument/2006/relationships/slideLayout" Target="../slideLayouts/slideLayout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aruba_bg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PLEASE FIND A SEAT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program will begin shortly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Speakers: Michael Monteferrante and Molly Edwards-Workman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52044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Michael Monteferrante</a:t>
            </a:r>
          </a:p>
          <a:p>
            <a:pPr algn="l">
              <a:spcAft>
                <a:spcPts val="240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PRESIDENT AND CEO</a:t>
            </a:r>
          </a:p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Molly Edwards-Workman</a:t>
            </a:r>
          </a:p>
          <a:p>
            <a:pPr algn="l">
              <a:spcAft>
                <a:spcPts val="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VICE PRESIDENT, FOUNDATION AND MISSION SERVICES</a:t>
            </a:r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pic>
        <p:nvPicPr>
          <p:cNvPr id="9005" name="Welcome script" descr="Courtney lettering in scr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3196742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Rev. Dr. Robin McGonigle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Rev. Dr. Robin McGonigle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INVOCATION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Hashim Syed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Syed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NATIONAL ANTHEM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MISSION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 improve the quality of life and provide inspiration and opportunity for people who are blind or have low vision through employment, outreach, rehabilitation, education and research.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HighTouch watermark" descr="HighTouch Technologies logo, faded"/>
          <p:cNvPicPr>
            <a:picLocks noChangeAspect="1"/>
          </p:cNvPicPr>
          <p:nvPr/>
        </p:nvPicPr>
        <p:blipFill>
          <a:blip r:embed="rId2">
            <a:alphaModFix amt="18000"/>
          </a:blip>
          <a:stretch>
            <a:fillRect/>
          </a:stretch>
        </p:blipFill>
        <p:spPr>
          <a:xfrm>
            <a:off x="5120640" y="1417320"/>
            <a:ext cx="6583680" cy="1511503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Speaker: Andrew Kon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461772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dirty="0" spc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Andrew Kon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REGIONAL DIRECTOR, TECHNOLOGY SOLUTIONS</a:t>
            </a:r>
            <a:endParaRPr lang="en-US" sz="2800" dirty="0"/>
          </a:p>
        </p:txBody>
      </p:sp>
      <p:sp>
        <p:nvSpPr>
          <p:cNvPr id="9003" name="Segment"/>
          <p:cNvSpPr txBox="1"/>
          <p:nvPr/>
        </p:nvSpPr>
        <p:spPr>
          <a:xfrm>
            <a:off x="731520" y="416052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" dirty="0">
                <a:solidFill>
                  <a:srgbClr val="C9C9C9"/>
                </a:solidFill>
                <a:latin typeface="Montserrat SemiBold"/>
                <a:cs typeface="Montserrat SemiBold"/>
              </a:rPr>
              <a:t>THANK YOU TO OUR PRESENTING SPONSOR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Spirit of Philanthropy Award: Congratulations 6 Meridian</a:t>
            </a:r>
            <a:endParaRPr lang="en-US" sz="1800" dirty="0"/>
          </a:p>
        </p:txBody>
      </p:sp>
      <p:pic>
        <p:nvPicPr>
          <p:cNvPr id="3" name="Award photo" descr="Crystal Spirit of Philanthropy Award engraved Envision Spirit of Philanthropy Award 2026, Presented to 6 Meridian"/>
          <p:cNvPicPr>
            <a:picLocks noGrp="1" noChangeAspect="1"/>
          </p:cNvPicPr>
          <p:nvPr>
            <p:ph type="pic" idx="200" hasCustomPrompt="1"/>
          </p:nvPr>
        </p:nvPicPr>
        <p:blipFill>
          <a:blip r:embed="rIdAward"/>
          <a:stretch>
            <a:fillRect/>
          </a:stretch>
        </p:blipFill>
        <p:spPr>
          <a:xfrm>
            <a:off x="822960" y="640080"/>
            <a:ext cx="4754880" cy="5577840"/>
          </a:xfrm>
          <a:prstGeom prst="rect">
            <a:avLst/>
          </a:prstGeom>
        </p:spPr>
      </p:pic>
      <p:sp>
        <p:nvSpPr>
          <p:cNvPr id="4" name="Congratulations"/>
          <p:cNvSpPr txBox="1"/>
          <p:nvPr/>
        </p:nvSpPr>
        <p:spPr>
          <a:xfrm>
            <a:off x="6126480" y="196596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/>
            <a:r>
              <a:rPr lang="en-US" sz="3000" spc="3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CONGRATULATIONS</a:t>
            </a:r>
          </a:p>
        </p:txBody>
      </p:sp>
      <p:pic>
        <p:nvPicPr>
          <p:cNvPr id="5" name="6 Meridian logo" descr="6 Meridian logo"/>
          <p:cNvPicPr>
            <a:picLocks noChangeAspect="1"/>
          </p:cNvPicPr>
          <p:nvPr/>
        </p:nvPicPr>
        <p:blipFill>
          <a:blip r:embed="rIdWM"/>
          <a:stretch>
            <a:fillRect/>
          </a:stretch>
        </p:blipFill>
        <p:spPr>
          <a:xfrm>
            <a:off x="6126480" y="2788920"/>
            <a:ext cx="5120640" cy="1089329"/>
          </a:xfrm>
          <a:prstGeom prst="rect">
            <a:avLst/>
          </a:prstGeom>
        </p:spPr>
      </p:pic>
      <p:sp>
        <p:nvSpPr>
          <p:cNvPr id="6" name="Award name"/>
          <p:cNvSpPr txBox="1"/>
          <p:nvPr/>
        </p:nvSpPr>
        <p:spPr>
          <a:xfrm>
            <a:off x="6126480" y="4198289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l"/>
            <a:r>
              <a:rPr lang="en-US" sz="2200" spc="3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SPIRIT OF PHILANTHROPY AWARD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331720"/>
            <a:ext cx="10728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DINNER IS SERVED</a:t>
            </a:r>
            <a:endParaRPr lang="en-US" sz="46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370332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 program continues at 7:30 PM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Legacy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4" name="Envision watermark" descr="Envision logo, white, faded"/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937760" y="1554480"/>
            <a:ext cx="6766560" cy="1192157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Speakers: Fund-A-Need, Molly Edwards-Workman and Courtney Wages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3520440"/>
            <a:ext cx="8778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Molly Edwards-Workman</a:t>
            </a:r>
          </a:p>
          <a:p>
            <a:pPr algn="l">
              <a:spcAft>
                <a:spcPts val="240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VICE PRESIDENT, FOUNDATION AND MISSION SERVICES</a:t>
            </a:r>
          </a:p>
          <a:p>
            <a:pPr algn="l">
              <a:spcAft>
                <a:spcPts val="200"/>
              </a:spcAft>
            </a:pPr>
            <a:r>
              <a:rPr lang="en-US" sz="3800" spc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0"/>
              </a:rPr>
              <a:t>Courtney Wages</a:t>
            </a:r>
          </a:p>
          <a:p>
            <a:pPr algn="l">
              <a:spcAft>
                <a:spcPts val="0"/>
              </a:spcAft>
            </a:pPr>
            <a:r>
              <a:rPr lang="en-US" sz="2000" spc="340" dirty="0">
                <a:solidFill>
                  <a:srgbClr val="C9C9C9"/>
                </a:solidFill>
                <a:latin typeface="Montserrat Light" pitchFamily="34" charset="0"/>
                <a:cs typeface="Montserrat Light" pitchFamily="34" charset="0"/>
              </a:rPr>
              <a:t>SENIOR MANAGER, COMMUNITY PROGRAMS, EVENTS AND OUTREACH</a:t>
            </a:r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532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spc="18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9005" name="Segment"/>
          <p:cNvSpPr txBox="1"/>
          <p:nvPr/>
        </p:nvSpPr>
        <p:spPr>
          <a:xfrm>
            <a:off x="731520" y="3063240"/>
            <a:ext cx="8778240" cy="365760"/>
          </a:xfrm>
          <a:prstGeom prst="rect">
            <a:avLst/>
          </a:prstGeom>
          <a:noFill/>
        </p:spPr>
        <p:txBody>
          <a:bodyPr wrap="square" lIns="0" tIns="0" rIns="0" bIns="0" anchor="b" rtlCol="0"/>
          <a:lstStyle/>
          <a:p>
            <a:pPr algn="l"/>
            <a:r>
              <a:rPr lang="en-US" sz="2000" spc="40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FUND-A-NEED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132588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spc="16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FUND-A-NEED</a:t>
            </a:r>
            <a:endParaRPr lang="en-US" sz="44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463040" y="2697480"/>
            <a:ext cx="92656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Foundation and Mission Services provides life-enhancing services for every age and stage of vision loss. 100% of your gift goes directly to mission services for people who are blind or have low vision.</a:t>
            </a:r>
            <a:endParaRPr lang="en-US" sz="2800" dirty="0"/>
          </a:p>
          <a:p>
            <a:pPr indent="0" marL="0" algn="ctr">
              <a:lnSpc>
                <a:spcPct val="150000"/>
              </a:lnSpc>
              <a:buNone/>
            </a:pPr>
            <a:r>
              <a:rPr lang="en-US" sz="28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Tonight, you can make an impact.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1: $50,000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1: $50,000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2: $25,000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2: $25,000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3: $15,000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3: $15,000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4: $10,000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606040"/>
            <a:ext cx="10728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000" dirty="0" spc="16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603504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600" dirty="0" spc="6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800" dirty="0"/>
          </a:p>
        </p:txBody>
      </p:sp>
      <p:sp>
        <p:nvSpPr>
          <p:cNvPr id="4" name="Segment"/>
          <p:cNvSpPr txBox="1"/>
          <p:nvPr/>
        </p:nvSpPr>
        <p:spPr>
          <a:xfrm>
            <a:off x="731520" y="160020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2200" spc="440" dirty="0">
                <a:solidFill>
                  <a:srgbClr val="C9C9C9"/>
                </a:solidFill>
                <a:latin typeface="Montserrat SemiBold" pitchFamily="34" charset="0"/>
                <a:cs typeface="Montserrat SemiBold" pitchFamily="34" charset="0"/>
              </a:rPr>
              <a:t>VIDEO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(repeat) 4: $10,000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$10,000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5: $5,000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$5,000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6: $2,500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7: $1,500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$1,500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8: $500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$500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ddle Drop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PaddleBg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365760" y="731520"/>
            <a:ext cx="11460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ct val="82000"/>
              </a:lnSpc>
              <a:buNone/>
            </a:pPr>
            <a:r>
              <a:rPr lang="en-US" sz="17500" spc="-200" kern="0" dirty="0">
                <a:solidFill>
                  <a:srgbClr val="FFFFFF"/>
                </a:solidFill>
                <a:effectLst>
                  <a:glow rad="254000">
                    <a:srgbClr val="E4002B">
                      <a:alpha val="38000"/>
                    </a:srgbClr>
                  </a:glow>
                </a:effectLst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PADDLE</a:t>
            </a:r>
          </a:p>
          <a:p>
            <a:pPr algn="ctr" indent="0" marL="0">
              <a:lnSpc>
                <a:spcPct val="82000"/>
              </a:lnSpc>
              <a:buNone/>
            </a:pPr>
            <a:r>
              <a:rPr lang="en-US" sz="17500" spc="-100" kern="0" dirty="0">
                <a:solidFill>
                  <a:srgbClr val="FFFFFF"/>
                </a:solidFill>
                <a:effectLst>
                  <a:glow rad="254000">
                    <a:srgbClr val="E4002B">
                      <a:alpha val="38000"/>
                    </a:srgbClr>
                  </a:glow>
                </a:effectLst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DROP</a:t>
            </a:r>
            <a:endParaRPr lang="en-US" sz="17500" dirty="0"/>
          </a:p>
        </p:txBody>
      </p:sp>
      <p:sp>
        <p:nvSpPr>
          <p:cNvPr id="3" name="Text 1"/>
          <p:cNvSpPr txBox="1"/>
          <p:nvPr>
            <p:ph type="body" idx="103" hasCustomPrompt="1"/>
          </p:nvPr>
        </p:nvSpPr>
        <p:spPr>
          <a:xfrm>
            <a:off x="1371600" y="5394960"/>
            <a:ext cx="944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Your gift tonight goes straight to mission services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 9: $200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90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$200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Drop your number. $200 sends one camper to Heather’s Camp.</a:t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ance draw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 winner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137160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2400" spc="3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CHANCE DRAWING</a:t>
            </a:r>
            <a:endParaRPr lang="en-US" sz="2800" dirty="0"/>
          </a:p>
        </p:txBody>
      </p:sp>
      <p:sp>
        <p:nvSpPr>
          <p:cNvPr id="4" name="Text 1"/>
          <p:cNvSpPr txBox="1"/>
          <p:nvPr>
            <p:ph type="body" idx="103" hasCustomPrompt="1"/>
          </p:nvPr>
        </p:nvSpPr>
        <p:spPr>
          <a:xfrm>
            <a:off x="731520" y="1920240"/>
            <a:ext cx="1072865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2400" dirty="0" spc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Winner</a:t>
            </a:r>
            <a:endParaRPr lang="en-US" sz="8800" dirty="0"/>
          </a:p>
        </p:txBody>
      </p:sp>
      <p:sp>
        <p:nvSpPr>
          <p:cNvPr id="5" name="Text 1"/>
          <p:cNvSpPr txBox="1"/>
          <p:nvPr>
            <p:ph type="body" idx="104" hasCustomPrompt="1"/>
          </p:nvPr>
        </p:nvSpPr>
        <p:spPr>
          <a:xfrm>
            <a:off x="1463040" y="5120640"/>
            <a:ext cx="92656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lnSpc>
                <a:spcPct val="125000"/>
              </a:lnSpc>
              <a:buNone/>
            </a:pP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Enter for a chance to win.</a:t>
            </a:r>
            <a:b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</a:br>
            <a:r>
              <a:rPr lang="en-US" sz="2600" dirty="0" spc="2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Tickets are available from Envision team members.</a:t>
            </a:r>
            <a:endParaRPr lang="en-US" sz="3200" dirty="0"/>
          </a:p>
        </p:txBody>
      </p:sp>
      <p:sp>
        <p:nvSpPr>
          <p:cNvPr id="6" name="Text 1"/>
          <p:cNvSpPr txBox="1"/>
          <p:nvPr>
            <p:ph type="body" idx="105" hasCustomPrompt="1"/>
          </p:nvPr>
        </p:nvSpPr>
        <p:spPr>
          <a:xfrm>
            <a:off x="731520" y="621792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ctr">
              <a:buNone/>
            </a:pPr>
            <a:r>
              <a:rPr lang="en-US" sz="1800" spc="1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/>
            </a:r>
            <a:endParaRPr lang="en-US" sz="240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generosity creates new possibilities for generations to come.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ponsor cloud" descr="Thank you to our sponsors: presenting sponsor HighTouch Technologies; corporate sponsors Allen Exploration, SPR, LC Industries Foundation; platinum Forvis Mazars; diamond 6 Meridian, Summit Films, IMA, Hutton; gold INTRUST Bank; silver ADS, Corza Medical, ARSI, EBY, Belleville, Enza Financial, Vornado, MAS SF, Novolex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Program</dc:title>
  <dc:subject>PptxGenJS Presentation</dc:subject>
  <dc:creator>Envision Marketing</dc:creator>
  <cp:lastModifiedBy>Envision Marketing</cp:lastModifiedBy>
  <cp:revision>1</cp:revision>
  <dcterms:created xsi:type="dcterms:W3CDTF">2026-09-15T19:36:45Z</dcterms:created>
  <dcterms:modified xsi:type="dcterms:W3CDTF">2026-09-15T19:36:45Z</dcterms:modified>
</cp:coreProperties>
</file>