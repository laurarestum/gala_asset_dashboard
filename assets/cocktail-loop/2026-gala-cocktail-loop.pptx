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1-1.jpg" ContentType="image/jpg"/>
  <Override PartName="/ppt/media/image-12-1.jpg" ContentType="image/jpg"/>
  <Override PartName="/ppt/media/image-18-1.jpg" ContentType="image/jpg"/>
  <Override PartName="/ppt/media/image-2-1.jpg" ContentType="image/jpg"/>
  <Override PartName="/ppt/media/image-26-1.jpg" ContentType="image/jpg"/>
  <Override PartName="/ppt/media/image-3-1.jpg" ContentType="image/jpg"/>
  <Override PartName="/ppt/media/image-32-1.jpg" ContentType="image/jpg"/>
  <Override PartName="/ppt/media/image-32-2.jpg" ContentType="image/jpg"/>
  <Override PartName="/ppt/media/image-35-1.jpg" ContentType="image/jpg"/>
  <Override PartName="/ppt/media/image-35-2.jpg" ContentType="image/jpg"/>
  <Override PartName="/ppt/media/image-38-1.jpg" ContentType="image/jpg"/>
  <Override PartName="/ppt/media/image-47-1.jpg" ContentType="image/jpg"/>
  <Override PartName="/ppt/media/image-47-2.jpg" ContentType="image/jpg"/>
  <Override PartName="/ppt/media/image-49-1.jpg" ContentType="image/jpg"/>
  <Override PartName="/ppt/media/image-5-1.jpg" ContentType="image/jpg"/>
  <Override PartName="/ppt/media/image-50-1.jpg" ContentType="image/jpg"/>
  <Override PartName="/ppt/media/image-51-1.jpg" ContentType="image/jpg"/>
  <Override PartName="/ppt/media/image-54-1.jpg" ContentType="image/jpg"/>
  <Override PartName="/ppt/media/image-54-2.jpg" ContentType="image/jpg"/>
  <Override PartName="/ppt/media/image-55-1.jpg" ContentType="image/jpg"/>
  <Override PartName="/ppt/media/image-56-1.jpg" ContentType="image/jpg"/>
  <Override PartName="/ppt/media/image-56-2.jpg" ContentType="image/jpg"/>
  <Override PartName="/ppt/media/image-57-1.jpg" ContentType="image/jpg"/>
  <Override PartName="/ppt/media/image-58-1.jpg" ContentType="image/jpg"/>
  <Override PartName="/ppt/media/image-6-1.jpg" ContentType="image/jpg"/>
  <Override PartName="/ppt/media/image-60-1.jpg" ContentType="image/jpg"/>
  <Override PartName="/ppt/media/image-61-1.jpg" ContentType="image/jpg"/>
  <Override PartName="/ppt/media/image-61-2.jpg" ContentType="image/jpg"/>
  <Override PartName="/ppt/media/image-62-1.jpg" ContentType="image/jpg"/>
  <Override PartName="/ppt/media/image-64-1.jpg" ContentType="image/jpg"/>
  <Override PartName="/ppt/media/image-65-1.jpg" ContentType="image/jpg"/>
  <Override PartName="/ppt/media/image-66-1.jpg" ContentType="image/jpg"/>
  <Override PartName="/ppt/media/image-67-1.jpg" ContentType="image/jpg"/>
  <Override PartName="/ppt/media/image-68-1.jpg" ContentType="image/jpg"/>
  <Override PartName="/ppt/media/image-68-2.jpg" ContentType="image/jpg"/>
  <Override PartName="/ppt/media/image-69-1.jpg" ContentType="image/jpg"/>
  <Override PartName="/ppt/media/image-69-2.jpg" ContentType="image/jpg"/>
  <Override PartName="/ppt/media/image-70-1.jpg" ContentType="image/jpg"/>
  <Override PartName="/ppt/media/image-70-2.jpg" ContentType="image/jpg"/>
  <Override PartName="/ppt/media/image-72-1.jpg" ContentType="image/jpg"/>
  <Override PartName="/ppt/media/image-8-1.jpg" ContentType="image/jpg"/>
  <Override PartName="/ppt/media/image-9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9"/>
    <p:sldId id="264" r:id="rId10"/>
    <p:sldId id="265" r:id="rId11"/>
    <p:sldId id="266" r:id="rId12"/>
    <p:sldId id="267" r:id="rId13"/>
    <p:sldId id="273" r:id="rId19"/>
    <p:sldId id="281" r:id="rId27"/>
    <p:sldId id="271" r:id="rId17"/>
    <p:sldId id="290" r:id="rId36"/>
    <p:sldId id="287" r:id="rId33"/>
    <p:sldId id="293" r:id="rId39"/>
    <p:sldId id="309" r:id="rId55"/>
    <p:sldId id="277" r:id="rId23"/>
    <p:sldId id="302" r:id="rId48"/>
    <p:sldId id="304" r:id="rId50"/>
    <p:sldId id="329" r:id="rId49"/>
    <p:sldId id="305" r:id="rId51"/>
    <p:sldId id="306" r:id="rId52"/>
    <p:sldId id="310" r:id="rId56"/>
    <p:sldId id="283" r:id="rId29"/>
    <p:sldId id="311" r:id="rId57"/>
    <p:sldId id="312" r:id="rId58"/>
    <p:sldId id="313" r:id="rId59"/>
    <p:sldId id="315" r:id="rId61"/>
    <p:sldId id="316" r:id="rId62"/>
    <p:sldId id="289" r:id="rId35"/>
    <p:sldId id="317" r:id="rId63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7" r:id="rId81"/>
    <p:sldId id="328" r:id="rId47"/>
  </p:sldIdLst>
  <p:notesMasterIdLst>
    <p:notesMasterId r:id="rId7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useTimings="1">
    <p:present/>
    <p:sldAll/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7" Type="http://schemas.openxmlformats.org/officeDocument/2006/relationships/slide" Target="slides/slide14.xml"/><Relationship Id="rId19" Type="http://schemas.openxmlformats.org/officeDocument/2006/relationships/slide" Target="slides/slide12.xml"/><Relationship Id="rId23" Type="http://schemas.openxmlformats.org/officeDocument/2006/relationships/slide" Target="slides/slide19.xml"/><Relationship Id="rId27" Type="http://schemas.openxmlformats.org/officeDocument/2006/relationships/slide" Target="slides/slide13.xml"/><Relationship Id="rId29" Type="http://schemas.openxmlformats.org/officeDocument/2006/relationships/slide" Target="slides/slide25.xml"/><Relationship Id="rId33" Type="http://schemas.openxmlformats.org/officeDocument/2006/relationships/slide" Target="slides/slide16.xml"/><Relationship Id="rId35" Type="http://schemas.openxmlformats.org/officeDocument/2006/relationships/slide" Target="slides/slide31.xml"/><Relationship Id="rId36" Type="http://schemas.openxmlformats.org/officeDocument/2006/relationships/slide" Target="slides/slide15.xml"/><Relationship Id="rId39" Type="http://schemas.openxmlformats.org/officeDocument/2006/relationships/slide" Target="slides/slide17.xml"/><Relationship Id="rId47" Type="http://schemas.openxmlformats.org/officeDocument/2006/relationships/slide" Target="slides/slide42.xml"/><Relationship Id="rId48" Type="http://schemas.openxmlformats.org/officeDocument/2006/relationships/slide" Target="slides/slide20.xml"/><Relationship Id="rId49" Type="http://schemas.openxmlformats.org/officeDocument/2006/relationships/slide" Target="slides/slide43.xml"/><Relationship Id="rId50" Type="http://schemas.openxmlformats.org/officeDocument/2006/relationships/slide" Target="slides/slide21.xml"/><Relationship Id="rId51" Type="http://schemas.openxmlformats.org/officeDocument/2006/relationships/slide" Target="slides/slide22.xml"/><Relationship Id="rId52" Type="http://schemas.openxmlformats.org/officeDocument/2006/relationships/slide" Target="slides/slide23.xml"/><Relationship Id="rId55" Type="http://schemas.openxmlformats.org/officeDocument/2006/relationships/slide" Target="slides/slide18.xml"/><Relationship Id="rId56" Type="http://schemas.openxmlformats.org/officeDocument/2006/relationships/slide" Target="slides/slide24.xml"/><Relationship Id="rId57" Type="http://schemas.openxmlformats.org/officeDocument/2006/relationships/slide" Target="slides/slide26.xml"/><Relationship Id="rId58" Type="http://schemas.openxmlformats.org/officeDocument/2006/relationships/slide" Target="slides/slide27.xml"/><Relationship Id="rId59" Type="http://schemas.openxmlformats.org/officeDocument/2006/relationships/slide" Target="slides/slide28.xml"/><Relationship Id="rId61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2.xml"/><Relationship Id="rId65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7.xml"/><Relationship Id="rId70" Type="http://schemas.openxmlformats.org/officeDocument/2006/relationships/slide" Target="slides/slide38.xml"/><Relationship Id="rId71" Type="http://schemas.openxmlformats.org/officeDocument/2006/relationships/slide" Target="slides/slide39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Relationship Id="rId81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USE THIS TEMPLATE: Home &gt; New Slide (arrow) and pick a layout. Fill the placeholders; the styling is built in. Photo and rendering placeholders crop to fill (Picture Format &gt; Crop to adjust the framing). Logo and QR placeholders fit the image without cropping. Every layout has a hidden title placeholder off the slide edge (Home &gt; Select &gt; Selection Pane) so screen reader users can navigate by slide title; give each slide a unique one. Montserrat must be installed on the presenting laptop, or embed fonts when you save (File &gt; Options &gt; Save &gt; Embed fonts). This loop auto-advances every 8 seconds and repeats until Esc (Transitions tab to change timing; Slide Show &gt; Set Up Slide Show to change looping).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 caption: 1933, one of Envision’s first patrons; label from Laura. Source photo: patron_1933.png.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 caption: broom-making workshop in the 1940s; label from Laura. Source photo: 514729028_24370021999262725_6241323963255478700_n.jpg. Photos already carry the sepia treatment; to swap one, right-click it &gt; Change Picture. The dark scrim over the bottom of the photo is a separate object on this slide; duplicate this slide rather than inserting a fresh one so it comes along.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Presenting sponsor slide. The HighTouch logo is placed; replace with the official file if a newer version arrives.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 caption: a program participant and her family in the 1940s. Source photo: family_1940s.png.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 caption: a dance put on by Envision in the 1950s; label from Laura. Source photo: dance_1950s.png.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decade is an estimate; program name not confirmed. Source photo: 514526513_24360271056904486_8424275321534355461_n.jpg. Photos already carry the sepia treatment; to swap one, right-click it &gt; Change Picture. The dark scrim over the bottom of the photo is a separate object on this slide; duplicate this slide rather than inserting a fresh one so it comes along.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 caption: PRIDE program at Botanica in 1992. Source photo: 514399319_24370451429219782_5553540867382418124_n.jpg.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Logos here are low-resolution cutouts from the sponsor thank-you graphic, placed so the loop runs complete. Replace each with the official logo file: right-click the logo &gt; Change Picture (the white card fits it without cropping). Set the tier label to the sponsor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Heather’s Camp photos from the PDF Laura sent; the PDF export carried no notes, year read from the print’s date stamp where one exists, otherwise a decade estimate; confirm (stamp reads 199x). Source photo: img-007.png.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photo from the PDF Laura sent; the PDF export carried no notes, year read from the print’s date stamp where one exists, otherwise a decade estimate; confirm; piano beneath the older Envision banner. Source photo: img-016.png.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Logos here are low-resolution cutouts from the sponsor thank-you graphic, placed so the loop runs complete. Replace each with the official logo file: right-click the logo &gt; Change Picture (the white card fits it without cropping). Set the tier label to the sponsor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spread across 2000 to 2005 at Laura’s direction; not from a dated record. Source photo: img-003.png.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Logos here are low-resolution cutouts from the sponsor thank-you graphic, placed so the loop runs complete. Replace each with the official logo file: right-click the logo &gt; Change Picture (the white card fits it without cropping). Set the tier label to the sponsor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spread across 2000 to 2005 at Laura’s direction; not from a dated record. Source photo: img-011.png.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Logos here are low-resolution cutouts from the sponsor thank-you graphic, placed so the loop runs complete. Replace each with the official logo file: right-click the logo &gt; Change Picture (the white card fits it without cropping). Set the tier label to the sponsor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spread across 2000 to 2005 at Laura’s direction; not from a dated record. Source photos: img-015.png, img-019.png.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Logos here are low-resolution cutouts from the sponsor thank-you graphic, placed so the loop runs complete. Replace each with the official logo file: right-click the logo &gt; Change Picture (the white card fits it without cropping). Set the tier label to the sponsor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Heather’s Camp photos from the PDF Laura sent; the PDF export carried no notes, year read from the print’s date stamp where one exists, otherwise a decade estimate; confirm (both stamped AUG 8 2004). Source photos: img-004.png, img-020.png.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Heather’s Camp 2007, confirmed by Laura. Source photo: scan0014_00b.jpg. Photos already carry the sepia treatment; to swap one, right-click it &gt; Change Picture. The dark scrim over the bottom of the photo is a separate object on this slide; duplicate this slide rather than inserting a fresh one so it comes along.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posts dated May 16 and August 18, 2014; Adah per Laura. Source photos: girl_cane_2014.png, 514102732_24347428004855458_8712718144461110952_n.jpg.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decade is an estimate; program name not confirmed. Source photo: 514356143_24365277619737163_4572300578063408220_n.jpg.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 dated July 31, 2015; camp name not confirmed. Source photo: 515508522_24372597575671834_6507375247130789716_n.jpg. Photos already carry the sepia treatment; to swap one, right-click it &gt; Change Picture. The dark scrim over the bottom of the photo is a separate object on this slide; duplicate this slide rather than inserting a fresh one so it comes along.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 dated October 13, 2016; Laura confirms the photos are from 2015; program name not confirmed. Source photo: 515264128_24392120943719497_1144878044891021107_n.jpg.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decade is an estimate; confirm. Source photos: 516307629_24404475582484033_4077145122123939934_n.jpg, 514398054_24407351508863107_4640940189281080079_n.jpg.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 dated February 27, 2017. Source photo: 515666041_24396518596613065_9163789206916333567_n.jpg. Photos already carry the sepia treatment; to swap one, right-click it &gt; Change Picture. The dark scrim over the bottom of the photo is a separate object on this slide; duplicate this slide rather than inserting a fresh one so it comes along.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year from Facebook upload timing; program name not confirmed. Source photos: 36679840_1977772592247652_8857339367518109696_n.jpg, 36720032_1977770692247842_8607756704823640064_n.jpg.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year from Facebook upload timing; program name not confirmed. Source photo: 39468117_2048172925207618_3198537865604628480_n.jpg.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year from Facebook upload timing; event name not confirmed. Source photo: 56781124_2401507159874191_4435377701120901120_n.jpg.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 dated December 4, 2020; names per Laura. Source photo: weseeclearly.png.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group photo uploaded February 2020; the close-up was reposted March 30, 2021; confirm. Source photos: 87270349_3040969335927967_4814775488343965696_n.jpg, bowling_kid.png.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 dated July 30, 2021. Source photo: falcons2021.png. Photos already carry the sepia treatment; to swap one, right-click it &gt; Change Picture. The dark scrim over the bottom of the photo is a separate object on this slide; duplicate this slide rather than inserting a fresh one so it comes along.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 dated July 21, 2022; Adah per Laura. Source photo: adah_2022.png.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 dated July 19, 2022; Hashim per Laura. Source photo: hashim_2022.png. Photos already carry the sepia treatment; to swap one, right-click it &gt; Change Picture. The dark scrim over the bottom of the photo is a separate object on this slide; duplicate this slide rather than inserting a fresh one so it comes along.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phone camera timestamp; event name not confirmed. Source photo: 20220829_195341.jpg.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Facebook post dated June 27, 2024; Kennick per Laura. Source photo: kennick_2024.png.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then: Facebook post dated August 1, 2024 (Heather’s Camp); now: Level Up 2026 photo from Laura. Source photos: 482091992_1036613011835564_1782698059698200373_n.jpg, Aubree_Calvert.jpg.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then: Facebook post dated December 29, 2011; now: high school graduation 2026 per Laura. Source photos: adah_2011.png, 705968911_122313865370027018_2361427042434269514_n.jpg.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basis: then: Facebook post dated October 13, 2016; Laura confirms the photos are from 2015; now: Wichita State graduation 2026. Source photos: boy_painting.png, hashim_grad_2026.jpg. Photos already carry the sepia treatment; to swap one, right-click it &gt; Change Picture.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png"/><Relationship Id="rId4" Type="http://schemas.openxmlformats.org/officeDocument/2006/relationships/image" Target="../media/image-1002-4.png"/><Relationship Id="rId5" Type="http://schemas.openxmlformats.org/officeDocument/2006/relationships/image" Target="../media/Welcome-(lockup)-image-5.jpeg"/><Relationship Id="rId6" Type="http://schemas.openxmlformats.org/officeDocument/2006/relationships/slideMaster" Target="../slideMasters/slideMaster1.xml"/><Relationship Id="rId7" Type="http://schemas.openxmlformats.org/officeDocument/2006/relationships/image" Target="../media/cover_bg.png"/><Relationship Id="rId8" Type="http://schemas.openxmlformats.org/officeDocument/2006/relationships/image" Target="../media/welcome_script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24-1.png"/><Relationship Id="rId2" Type="http://schemas.openxmlformats.org/officeDocument/2006/relationships/image" Target="../media/image-1024-2.png"/><Relationship Id="rId3" Type="http://schemas.openxmlformats.org/officeDocument/2006/relationships/image" Target="../media/image-1024-3.png"/><Relationship Id="rId4" Type="http://schemas.openxmlformats.org/officeDocument/2006/relationships/image" Target="../media/Thank-you-image-4.jpe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lcome (lockup)">
    <p:bg>
      <p:bgPr>
        <a:blipFill dpi="0" rotWithShape="1">
          <a:blip r:embed="rId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Welcome</a:t>
            </a:r>
            <a:endParaRPr lang="en-US" sz="1800" dirty="0"/>
          </a:p>
        </p:txBody>
      </p:sp>
      <p:pic>
        <p:nvPicPr>
          <p:cNvPr id="3" name="Image 0" descr="Envisio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66928"/>
            <a:ext cx="2377440" cy="47698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85455" y="502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spc="32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PRESENTED BY</a:t>
            </a:r>
            <a:endParaRPr lang="en-US" sz="1800" dirty="0"/>
          </a:p>
        </p:txBody>
      </p:sp>
      <p:pic>
        <p:nvPicPr>
          <p:cNvPr id="5" name="Image 1" descr="HighTouch Technologie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495" y="822960"/>
            <a:ext cx="2011680" cy="483731"/>
          </a:xfrm>
          <a:prstGeom prst="rect">
            <a:avLst/>
          </a:prstGeom>
        </p:spPr>
      </p:pic>
      <p:pic>
        <p:nvPicPr>
          <p:cNvPr id="9003" name="Welcome script" descr="Welcome, in white scrip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61208" y="320040"/>
            <a:ext cx="5669280" cy="3081130"/>
          </a:xfrm>
          <a:prstGeom prst="rect">
            <a:avLst/>
          </a:prstGeom>
        </p:spPr>
      </p:pic>
      <p:sp>
        <p:nvSpPr>
          <p:cNvPr id="9004" name="To"/>
          <p:cNvSpPr txBox="1"/>
          <p:nvPr/>
        </p:nvSpPr>
        <p:spPr>
          <a:xfrm>
            <a:off x="731520" y="3364992"/>
            <a:ext cx="10728655" cy="310896"/>
          </a:xfrm>
          <a:prstGeom prst="rect">
            <a:avLst/>
          </a:prstGeom>
          <a:noFill/>
        </p:spPr>
        <p:txBody>
          <a:bodyPr wrap="square" lIns="0" tIns="0" rIns="0" bIns="0" anchor="ctr" rtlCol="0">
            <a:normAutofit/>
          </a:bodyPr>
          <a:lstStyle/>
          <a:p>
            <a:pPr algn="ctr"/>
            <a:r>
              <a:rPr lang="en-US" sz="2400" b="0" spc="720" dirty="0">
                <a:solidFill>
                  <a:srgbClr val="FFFFFF"/>
                </a:solidFill>
                <a:latin typeface="Montserrat Light"/>
                <a:cs typeface="Montserrat Light"/>
              </a:rPr>
              <a:t>TO</a:t>
            </a:r>
          </a:p>
        </p:txBody>
      </p:sp>
      <p:sp>
        <p:nvSpPr>
          <p:cNvPr id="9005" name="A Night For Vision"/>
          <p:cNvSpPr txBox="1"/>
          <p:nvPr/>
        </p:nvSpPr>
        <p:spPr>
          <a:xfrm>
            <a:off x="731520" y="3675888"/>
            <a:ext cx="10728655" cy="713232"/>
          </a:xfrm>
          <a:prstGeom prst="rect">
            <a:avLst/>
          </a:prstGeom>
          <a:noFill/>
        </p:spPr>
        <p:txBody>
          <a:bodyPr wrap="square" lIns="0" tIns="0" rIns="0" bIns="0" anchor="ctr" rtlCol="0">
            <a:normAutofit/>
          </a:bodyPr>
          <a:lstStyle/>
          <a:p>
            <a:pPr algn="ctr"/>
            <a:r>
              <a:rPr lang="en-US" sz="5600" b="1" spc="560" dirty="0">
                <a:solidFill>
                  <a:srgbClr val="FFFFFF"/>
                </a:solidFill>
                <a:latin typeface="Montserrat"/>
                <a:cs typeface="Montserrat"/>
              </a:rPr>
              <a:t>A NIGHT FOR VISION</a:t>
            </a:r>
          </a:p>
        </p:txBody>
      </p:sp>
      <p:sp>
        <p:nvSpPr>
          <p:cNvPr id="9006" name="Envision Gala"/>
          <p:cNvSpPr txBox="1"/>
          <p:nvPr/>
        </p:nvSpPr>
        <p:spPr>
          <a:xfrm>
            <a:off x="731520" y="4407408"/>
            <a:ext cx="10728655" cy="420624"/>
          </a:xfrm>
          <a:prstGeom prst="rect">
            <a:avLst/>
          </a:prstGeom>
          <a:noFill/>
        </p:spPr>
        <p:txBody>
          <a:bodyPr wrap="square" lIns="0" tIns="0" rIns="0" bIns="0" anchor="ctr" rtlCol="0">
            <a:normAutofit/>
          </a:bodyPr>
          <a:lstStyle/>
          <a:p>
            <a:pPr algn="ctr"/>
            <a:r>
              <a:rPr lang="en-US" sz="3000" b="0" spc="900" dirty="0">
                <a:solidFill>
                  <a:srgbClr val="FFFFFF"/>
                </a:solidFill>
                <a:latin typeface="Montserrat"/>
                <a:cs typeface="Montserrat"/>
              </a:rPr>
              <a:t>ENVISION GALA</a:t>
            </a:r>
          </a:p>
        </p:txBody>
      </p:sp>
      <p:sp>
        <p:nvSpPr>
          <p:cNvPr id="9007" name="Decorative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49928" y="5029200"/>
            <a:ext cx="3291840" cy="18288"/>
          </a:xfrm>
          <a:prstGeom prst="rect">
            <a:avLst/>
          </a:prstGeom>
          <a:solidFill>
            <a:srgbClr val="6E0F1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8" name="Tagline"/>
          <p:cNvSpPr txBox="1"/>
          <p:nvPr/>
        </p:nvSpPr>
        <p:spPr>
          <a:xfrm>
            <a:off x="731520" y="5230368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 anchor="ctr" rtlCol="0">
            <a:normAutofit/>
          </a:bodyPr>
          <a:lstStyle/>
          <a:p>
            <a:pPr algn="ctr"/>
            <a:r>
              <a:rPr lang="en-US" sz="2400" b="0" spc="840" dirty="0">
                <a:solidFill>
                  <a:srgbClr val="FFFFFF"/>
                </a:solidFill>
                <a:latin typeface="Montserrat Light"/>
                <a:cs typeface="Montserrat Light"/>
              </a:rPr>
              <a:t>YOUR SUPPORT HELPS MAKE</a:t>
            </a:r>
          </a:p>
          <a:p>
            <a:pPr algn="ctr"/>
            <a:r>
              <a:rPr lang="en-US" sz="2400" b="0" spc="840" dirty="0">
                <a:solidFill>
                  <a:srgbClr val="FFFFFF"/>
                </a:solidFill>
                <a:latin typeface="Montserrat Light"/>
                <a:cs typeface="Montserrat Light"/>
              </a:rPr>
              <a:t>OUR MISSION POSSIBLE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owback photo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Throwback: year and event</a:t>
            </a:r>
            <a:endParaRPr lang="en-US" sz="1800" dirty="0"/>
          </a:p>
        </p:txBody>
      </p:sp>
      <p:sp>
        <p:nvSpPr>
          <p:cNvPr id="7" name="Decorative tim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129784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0"/>
          <p:cNvSpPr txBox="1"/>
          <p:nvPr>
            <p:ph type="pic" idx="101" hasCustomPrompt="1"/>
          </p:nvPr>
        </p:nvSpPr>
        <p:spPr>
          <a:xfrm>
            <a:off x="731520" y="777240"/>
            <a:ext cx="6803136" cy="4617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</a:t>
            </a:r>
            <a:endParaRPr lang="en-US" dirty="0"/>
          </a:p>
        </p:txBody>
      </p:sp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b"/>
          <a:lstStyle>
            <a:lvl1pPr algn="r" indent="0" marL="0">
              <a:buNone/>
              <a:def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Year</a:t>
            </a:r>
            <a:endParaRPr lang="en-US" sz="7200" dirty="0"/>
          </a:p>
        </p:txBody>
      </p:sp>
      <p:pic>
        <p:nvPicPr>
          <p:cNvPr id="5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5047488"/>
            <a:ext cx="201168" cy="201168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algn="r" indent="0" marL="0">
              <a:lnSpc>
                <a:spcPct val="115000"/>
              </a:lnSpc>
              <a:buNone/>
              <a:def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EVENT OR LOCATION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owback: two portraits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Throwback: two portraits</a:t>
            </a:r>
            <a:endParaRPr lang="en-US" sz="1800" dirty="0"/>
          </a:p>
        </p:txBody>
      </p:sp>
      <p:sp>
        <p:nvSpPr>
          <p:cNvPr id="8" name="Decorative tim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129784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0"/>
          <p:cNvSpPr txBox="1"/>
          <p:nvPr>
            <p:ph type="pic" idx="101" hasCustomPrompt="1"/>
          </p:nvPr>
        </p:nvSpPr>
        <p:spPr>
          <a:xfrm>
            <a:off x="731520" y="777240"/>
            <a:ext cx="3186684" cy="4617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</a:t>
            </a:r>
            <a:endParaRPr lang="en-US" dirty="0"/>
          </a:p>
        </p:txBody>
      </p:sp>
      <p:sp>
        <p:nvSpPr>
          <p:cNvPr id="4" name="Text 0"/>
          <p:cNvSpPr txBox="1"/>
          <p:nvPr>
            <p:ph type="pic" idx="102" hasCustomPrompt="1"/>
          </p:nvPr>
        </p:nvSpPr>
        <p:spPr>
          <a:xfrm>
            <a:off x="4192524" y="777240"/>
            <a:ext cx="3186684" cy="4617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</a:t>
            </a:r>
            <a:endParaRPr lang="en-US" dirty="0"/>
          </a:p>
        </p:txBody>
      </p:sp>
      <p:sp>
        <p:nvSpPr>
          <p:cNvPr id="5" name="Text 0"/>
          <p:cNvSpPr txBox="1"/>
          <p:nvPr>
            <p:ph type="body" idx="103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b"/>
          <a:lstStyle>
            <a:lvl1pPr algn="r" indent="0" marL="0">
              <a:buNone/>
              <a:def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Year</a:t>
            </a:r>
            <a:endParaRPr lang="en-US" sz="7200" dirty="0"/>
          </a:p>
        </p:txBody>
      </p:sp>
      <p:pic>
        <p:nvPicPr>
          <p:cNvPr id="6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5047488"/>
            <a:ext cx="201168" cy="201168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type="body" idx="105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algn="r" indent="0" marL="0">
              <a:lnSpc>
                <a:spcPct val="115000"/>
              </a:lnSpc>
              <a:buNone/>
              <a:def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EVENT OR LOCATION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owback: full bleed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Throwback: full bleed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pic" idx="101" hasCustomPrompt="1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</a:t>
            </a:r>
            <a:endParaRPr lang="en-US" dirty="0"/>
          </a:p>
        </p:txBody>
      </p:sp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6949440" y="3713378"/>
            <a:ext cx="4206240" cy="1554480"/>
          </a:xfrm>
          <a:prstGeom prst="rect">
            <a:avLst/>
          </a:prstGeom>
          <a:noFill/>
          <a:ln/>
        </p:spPr>
        <p:txBody>
          <a:bodyPr wrap="square" rtlCol="0" anchor="b"/>
          <a:lstStyle>
            <a:lvl1pPr algn="r" indent="0" marL="0">
              <a:buNone/>
              <a:def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Year</a:t>
            </a:r>
            <a:endParaRPr lang="en-US" sz="7200" dirty="0"/>
          </a:p>
        </p:txBody>
      </p:sp>
      <p:pic>
        <p:nvPicPr>
          <p:cNvPr id="5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5047488"/>
            <a:ext cx="201168" cy="201168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type="body" idx="104" hasCustomPrompt="1"/>
          </p:nvPr>
        </p:nvSpPr>
        <p:spPr>
          <a:xfrm>
            <a:off x="5943600" y="5486400"/>
            <a:ext cx="5504688" cy="68580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algn="r" indent="0" marL="0">
              <a:lnSpc>
                <a:spcPct val="115000"/>
              </a:lnSpc>
              <a:buNone/>
              <a:defRPr lang="en-US" sz="2400" spc="43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EVENT OR LOCATION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owback: split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Throwback: split</a:t>
            </a:r>
            <a:endParaRPr lang="en-US" sz="1800" dirty="0"/>
          </a:p>
        </p:txBody>
      </p:sp>
      <p:sp>
        <p:nvSpPr>
          <p:cNvPr id="7" name="Decorative tim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129784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0"/>
          <p:cNvSpPr txBox="1"/>
          <p:nvPr>
            <p:ph type="pic" idx="101" hasCustomPrompt="1"/>
          </p:nvPr>
        </p:nvSpPr>
        <p:spPr>
          <a:xfrm>
            <a:off x="0" y="0"/>
            <a:ext cx="73152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</a:t>
            </a:r>
            <a:endParaRPr lang="en-US" dirty="0"/>
          </a:p>
        </p:txBody>
      </p:sp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635240" y="3713378"/>
            <a:ext cx="3520440" cy="1554480"/>
          </a:xfrm>
          <a:prstGeom prst="rect">
            <a:avLst/>
          </a:prstGeom>
          <a:noFill/>
          <a:ln/>
        </p:spPr>
        <p:txBody>
          <a:bodyPr wrap="square" rtlCol="0" anchor="b"/>
          <a:lstStyle>
            <a:lvl1pPr algn="r" indent="0" marL="0">
              <a:buNone/>
              <a:def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Year</a:t>
            </a:r>
            <a:endParaRPr lang="en-US" sz="7200" dirty="0"/>
          </a:p>
        </p:txBody>
      </p:sp>
      <p:pic>
        <p:nvPicPr>
          <p:cNvPr id="5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5047488"/>
            <a:ext cx="201168" cy="201168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type="body" idx="104" hasCustomPrompt="1"/>
          </p:nvPr>
        </p:nvSpPr>
        <p:spPr>
          <a:xfrm>
            <a:off x="7635240" y="5486400"/>
            <a:ext cx="3822192" cy="68580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algn="r" indent="0" marL="0">
              <a:lnSpc>
                <a:spcPct val="115000"/>
              </a:lnSpc>
              <a:buNone/>
              <a:defRPr lang="en-US" sz="18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r" indent="0" marL="0">
              <a:lnSpc>
                <a:spcPct val="115000"/>
              </a:lnSpc>
              <a:buNone/>
            </a:pPr>
            <a:r>
              <a:rPr lang="en-US" sz="18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EVENT OR LOCATION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owback: pair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Throwback: pair</a:t>
            </a:r>
            <a:endParaRPr lang="en-US" sz="1800" dirty="0"/>
          </a:p>
        </p:txBody>
      </p:sp>
      <p:sp>
        <p:nvSpPr>
          <p:cNvPr id="8" name="Decorative tim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129784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0"/>
          <p:cNvSpPr txBox="1"/>
          <p:nvPr>
            <p:ph type="pic" idx="101" hasCustomPrompt="1"/>
          </p:nvPr>
        </p:nvSpPr>
        <p:spPr>
          <a:xfrm>
            <a:off x="731520" y="822960"/>
            <a:ext cx="5212080" cy="35387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</a:t>
            </a:r>
            <a:endParaRPr lang="en-US" dirty="0"/>
          </a:p>
        </p:txBody>
      </p:sp>
      <p:sp>
        <p:nvSpPr>
          <p:cNvPr id="4" name="Text 0"/>
          <p:cNvSpPr txBox="1"/>
          <p:nvPr>
            <p:ph type="pic" idx="102" hasCustomPrompt="1"/>
          </p:nvPr>
        </p:nvSpPr>
        <p:spPr>
          <a:xfrm>
            <a:off x="6245352" y="822960"/>
            <a:ext cx="5212080" cy="35387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</a:t>
            </a:r>
            <a:endParaRPr lang="en-US" dirty="0"/>
          </a:p>
        </p:txBody>
      </p:sp>
      <p:sp>
        <p:nvSpPr>
          <p:cNvPr id="5" name="Text 0"/>
          <p:cNvSpPr txBox="1"/>
          <p:nvPr>
            <p:ph type="body" idx="103" hasCustomPrompt="1"/>
          </p:nvPr>
        </p:nvSpPr>
        <p:spPr>
          <a:xfrm>
            <a:off x="731520" y="5486400"/>
            <a:ext cx="6766560" cy="68580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algn="l" indent="0" marL="0">
              <a:lnSpc>
                <a:spcPct val="115000"/>
              </a:lnSpc>
              <a:buNone/>
              <a:def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EVENT OR LOCATION</a:t>
            </a:r>
            <a:endParaRPr lang="en-US" sz="2200" dirty="0"/>
          </a:p>
        </p:txBody>
      </p:sp>
      <p:sp>
        <p:nvSpPr>
          <p:cNvPr id="6" name="Text 0"/>
          <p:cNvSpPr txBox="1"/>
          <p:nvPr>
            <p:ph type="body" idx="104" hasCustomPrompt="1"/>
          </p:nvPr>
        </p:nvSpPr>
        <p:spPr>
          <a:xfrm>
            <a:off x="6858000" y="3713378"/>
            <a:ext cx="4297680" cy="1554480"/>
          </a:xfrm>
          <a:prstGeom prst="rect">
            <a:avLst/>
          </a:prstGeom>
          <a:noFill/>
          <a:ln/>
        </p:spPr>
        <p:txBody>
          <a:bodyPr wrap="square" rtlCol="0" anchor="b"/>
          <a:lstStyle>
            <a:lvl1pPr algn="r" indent="0" marL="0">
              <a:buNone/>
              <a:def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Year</a:t>
            </a:r>
            <a:endParaRPr lang="en-US" sz="7200" dirty="0"/>
          </a:p>
        </p:txBody>
      </p:sp>
      <p:pic>
        <p:nvPicPr>
          <p:cNvPr id="7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5047488"/>
            <a:ext cx="201168" cy="201168"/>
          </a:xfrm>
          <a:prstGeom prst="rect">
            <a:avLst/>
          </a:prstGeom>
        </p:spPr>
      </p:pic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owback: then and now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Then and now</a:t>
            </a:r>
            <a:endParaRPr lang="en-US" sz="1800" dirty="0"/>
          </a:p>
        </p:txBody>
      </p:sp>
      <p:sp>
        <p:nvSpPr>
          <p:cNvPr id="11" name="Decorative tim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129784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22860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algn="ctr" indent="0" marL="0">
              <a:buNone/>
              <a:defRPr lang="en-US" sz="2600" spc="47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600" spc="47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NAME</a:t>
            </a:r>
            <a:endParaRPr lang="en-US" sz="2600" dirty="0"/>
          </a:p>
        </p:txBody>
      </p:sp>
      <p:sp>
        <p:nvSpPr>
          <p:cNvPr id="4" name="Text 0"/>
          <p:cNvSpPr txBox="1"/>
          <p:nvPr>
            <p:ph type="pic" idx="102" hasCustomPrompt="1"/>
          </p:nvPr>
        </p:nvSpPr>
        <p:spPr>
          <a:xfrm>
            <a:off x="2411273" y="868680"/>
            <a:ext cx="2858414" cy="3657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</a:t>
            </a:r>
            <a:endParaRPr lang="en-US" dirty="0"/>
          </a:p>
        </p:txBody>
      </p:sp>
      <p:sp>
        <p:nvSpPr>
          <p:cNvPr id="5" name="Text 0"/>
          <p:cNvSpPr txBox="1"/>
          <p:nvPr>
            <p:ph type="pic" idx="103" hasCustomPrompt="1"/>
          </p:nvPr>
        </p:nvSpPr>
        <p:spPr>
          <a:xfrm>
            <a:off x="6919265" y="868680"/>
            <a:ext cx="2858414" cy="3657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</a:t>
            </a:r>
            <a:endParaRPr lang="en-US" dirty="0"/>
          </a:p>
        </p:txBody>
      </p:sp>
      <p:sp>
        <p:nvSpPr>
          <p:cNvPr id="6" name="Text 0"/>
          <p:cNvSpPr txBox="1"/>
          <p:nvPr>
            <p:ph type="body" idx="104" hasCustomPrompt="1"/>
          </p:nvPr>
        </p:nvSpPr>
        <p:spPr>
          <a:xfrm>
            <a:off x="2411273" y="4410151"/>
            <a:ext cx="3072384" cy="822960"/>
          </a:xfrm>
          <a:prstGeom prst="rect">
            <a:avLst/>
          </a:prstGeom>
          <a:noFill/>
          <a:ln/>
        </p:spPr>
        <p:txBody>
          <a:bodyPr wrap="square" rtlCol="0" anchor="b"/>
          <a:lstStyle>
            <a:lvl1pPr algn="l" indent="0" marL="0">
              <a:buNone/>
              <a:defRPr lang="en-US" sz="5400" spc="1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spc="1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Then</a:t>
            </a:r>
            <a:endParaRPr lang="en-US" sz="5400" dirty="0"/>
          </a:p>
        </p:txBody>
      </p:sp>
      <p:sp>
        <p:nvSpPr>
          <p:cNvPr id="7" name="Text 0"/>
          <p:cNvSpPr txBox="1"/>
          <p:nvPr>
            <p:ph type="body" idx="105" hasCustomPrompt="1"/>
          </p:nvPr>
        </p:nvSpPr>
        <p:spPr>
          <a:xfrm>
            <a:off x="2411273" y="534924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algn="l" indent="0" marL="0">
              <a:lnSpc>
                <a:spcPct val="110000"/>
              </a:lnSpc>
              <a:buNone/>
              <a:defRPr lang="en-US" sz="2000" spc="36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en-US" sz="2000" spc="36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THEN LABEL</a:t>
            </a:r>
            <a:endParaRPr lang="en-US" sz="2000" dirty="0"/>
          </a:p>
        </p:txBody>
      </p:sp>
      <p:sp>
        <p:nvSpPr>
          <p:cNvPr id="8" name="Text 0"/>
          <p:cNvSpPr txBox="1"/>
          <p:nvPr>
            <p:ph type="body" idx="106" hasCustomPrompt="1"/>
          </p:nvPr>
        </p:nvSpPr>
        <p:spPr>
          <a:xfrm>
            <a:off x="6919265" y="4410151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b"/>
          <a:lstStyle>
            <a:lvl1pPr algn="r" indent="0" marL="0">
              <a:buNone/>
              <a:defRPr lang="en-US" sz="5400" spc="1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5400" spc="1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Now</a:t>
            </a:r>
            <a:endParaRPr lang="en-US" sz="5400" dirty="0"/>
          </a:p>
        </p:txBody>
      </p:sp>
      <p:pic>
        <p:nvPicPr>
          <p:cNvPr id="9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5065776"/>
            <a:ext cx="164592" cy="164592"/>
          </a:xfrm>
          <a:prstGeom prst="rect">
            <a:avLst/>
          </a:prstGeom>
        </p:spPr>
      </p:pic>
      <p:sp>
        <p:nvSpPr>
          <p:cNvPr id="10" name="Text 0"/>
          <p:cNvSpPr txBox="1"/>
          <p:nvPr>
            <p:ph type="body" idx="108" hasCustomPrompt="1"/>
          </p:nvPr>
        </p:nvSpPr>
        <p:spPr>
          <a:xfrm>
            <a:off x="6044184" y="534924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algn="r" indent="0" marL="0">
              <a:lnSpc>
                <a:spcPct val="110000"/>
              </a:lnSpc>
              <a:buNone/>
              <a:defRPr lang="en-US" sz="2000" spc="36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r" indent="0" marL="0">
              <a:lnSpc>
                <a:spcPct val="110000"/>
              </a:lnSpc>
              <a:buNone/>
            </a:pPr>
            <a:r>
              <a:rPr lang="en-US" sz="2000" spc="36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NOW LABEL</a:t>
            </a:r>
            <a:endParaRPr lang="en-US" sz="20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ter Street rendering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Water Street rendering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pic" idx="101" hasCustomPrompt="1"/>
          </p:nvPr>
        </p:nvSpPr>
        <p:spPr>
          <a:xfrm>
            <a:off x="0" y="0"/>
            <a:ext cx="12191695" cy="5669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Rendering</a:t>
            </a:r>
            <a:endParaRPr lang="en-US" dirty="0"/>
          </a:p>
        </p:txBody>
      </p:sp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31520" y="57150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indent="0" marL="0">
              <a:buNone/>
              <a:defRPr lang="en-US" sz="2400" spc="430" kern="0" dirty="0">
                <a:solidFill>
                  <a:srgbClr val="E4002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2400" spc="430" kern="0" dirty="0">
                <a:solidFill>
                  <a:srgbClr val="E4002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FUTURE</a:t>
            </a:r>
            <a:endParaRPr lang="en-US" sz="2400" dirty="0"/>
          </a:p>
        </p:txBody>
      </p:sp>
      <p:sp>
        <p:nvSpPr>
          <p:cNvPr id="5" name="Text 0"/>
          <p:cNvSpPr txBox="1"/>
          <p:nvPr>
            <p:ph type="body" idx="103" hasCustomPrompt="1"/>
          </p:nvPr>
        </p:nvSpPr>
        <p:spPr>
          <a:xfrm>
            <a:off x="3474720" y="5715000"/>
            <a:ext cx="7982712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indent="0" marL="0">
              <a:buNone/>
              <a:defRPr lang="en-US" sz="2200" spc="3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spc="3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WATER STREET CAMPUS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onsor: presenting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Presenting sponsor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PRESENTING SPONSOR</a:t>
            </a:r>
            <a:endParaRPr lang="en-US" sz="2800" dirty="0"/>
          </a:p>
        </p:txBody>
      </p:sp>
      <p:sp>
        <p:nvSpPr>
          <p:cNvPr id="5" name="Text 1"/>
          <p:cNvSpPr txBox="1"/>
          <p:nvPr>
            <p:ph type="body" idx="103" hasCustomPrompt="1"/>
          </p:nvPr>
        </p:nvSpPr>
        <p:spPr>
          <a:xfrm>
            <a:off x="3291840" y="2148840"/>
            <a:ext cx="5614416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onsor: one logo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Sponsor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TIER SPONSOR</a:t>
            </a:r>
            <a:endParaRPr lang="en-US" sz="2800" dirty="0"/>
          </a:p>
        </p:txBody>
      </p:sp>
      <p:sp>
        <p:nvSpPr>
          <p:cNvPr id="5" name="Text 1"/>
          <p:cNvSpPr txBox="1"/>
          <p:nvPr>
            <p:ph type="body" idx="103" hasCustomPrompt="1"/>
          </p:nvPr>
        </p:nvSpPr>
        <p:spPr>
          <a:xfrm>
            <a:off x="3291840" y="2148840"/>
            <a:ext cx="5614416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onsor: two logos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Sponsors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TIER SPONSORS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type="body" idx="104" hasCustomPrompt="1"/>
          </p:nvPr>
        </p:nvSpPr>
        <p:spPr>
          <a:xfrm>
            <a:off x="1280160" y="2194560"/>
            <a:ext cx="42062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7" name="Text 2"/>
          <p:cNvSpPr txBox="1"/>
          <p:nvPr>
            <p:ph type="body" idx="105" hasCustomPrompt="1"/>
          </p:nvPr>
        </p:nvSpPr>
        <p:spPr>
          <a:xfrm>
            <a:off x="6702552" y="2194560"/>
            <a:ext cx="42062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onsor: four logos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Sponsors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TIER SPONSORS</a:t>
            </a:r>
            <a:endParaRPr lang="en-US" sz="2800" dirty="0"/>
          </a:p>
        </p:txBody>
      </p:sp>
      <p:sp>
        <p:nvSpPr>
          <p:cNvPr id="8" name="Text 4"/>
          <p:cNvSpPr txBox="1"/>
          <p:nvPr>
            <p:ph type="body" idx="106" hasCustomPrompt="1"/>
          </p:nvPr>
        </p:nvSpPr>
        <p:spPr>
          <a:xfrm>
            <a:off x="1188720" y="1737360"/>
            <a:ext cx="43891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9" name="Text 4"/>
          <p:cNvSpPr txBox="1"/>
          <p:nvPr>
            <p:ph type="body" idx="107" hasCustomPrompt="1"/>
          </p:nvPr>
        </p:nvSpPr>
        <p:spPr>
          <a:xfrm>
            <a:off x="6611112" y="1737360"/>
            <a:ext cx="43891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10" name="Text 4"/>
          <p:cNvSpPr txBox="1"/>
          <p:nvPr>
            <p:ph type="body" idx="108" hasCustomPrompt="1"/>
          </p:nvPr>
        </p:nvSpPr>
        <p:spPr>
          <a:xfrm>
            <a:off x="1188720" y="4069080"/>
            <a:ext cx="43891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11" name="Text 4"/>
          <p:cNvSpPr txBox="1"/>
          <p:nvPr>
            <p:ph type="body" idx="109" hasCustomPrompt="1"/>
          </p:nvPr>
        </p:nvSpPr>
        <p:spPr>
          <a:xfrm>
            <a:off x="6611112" y="4069080"/>
            <a:ext cx="43891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onsor: six logos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Sponsors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TIER SPONSORS</a:t>
            </a:r>
            <a:endParaRPr lang="en-US" sz="2800" dirty="0"/>
          </a:p>
        </p:txBody>
      </p:sp>
      <p:sp>
        <p:nvSpPr>
          <p:cNvPr id="10" name="Text 6"/>
          <p:cNvSpPr txBox="1"/>
          <p:nvPr>
            <p:ph type="body" idx="108" hasCustomPrompt="1"/>
          </p:nvPr>
        </p:nvSpPr>
        <p:spPr>
          <a:xfrm>
            <a:off x="1005840" y="1783080"/>
            <a:ext cx="28346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11" name="Text 6"/>
          <p:cNvSpPr txBox="1"/>
          <p:nvPr>
            <p:ph type="body" idx="109" hasCustomPrompt="1"/>
          </p:nvPr>
        </p:nvSpPr>
        <p:spPr>
          <a:xfrm>
            <a:off x="4681728" y="1783080"/>
            <a:ext cx="28346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12" name="Text 6"/>
          <p:cNvSpPr txBox="1"/>
          <p:nvPr>
            <p:ph type="body" idx="110" hasCustomPrompt="1"/>
          </p:nvPr>
        </p:nvSpPr>
        <p:spPr>
          <a:xfrm>
            <a:off x="8348472" y="1783080"/>
            <a:ext cx="28346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13" name="Text 6"/>
          <p:cNvSpPr txBox="1"/>
          <p:nvPr>
            <p:ph type="body" idx="111" hasCustomPrompt="1"/>
          </p:nvPr>
        </p:nvSpPr>
        <p:spPr>
          <a:xfrm>
            <a:off x="1005840" y="4023360"/>
            <a:ext cx="28346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14" name="Text 6"/>
          <p:cNvSpPr txBox="1"/>
          <p:nvPr>
            <p:ph type="body" idx="112" hasCustomPrompt="1"/>
          </p:nvPr>
        </p:nvSpPr>
        <p:spPr>
          <a:xfrm>
            <a:off x="4681728" y="4023360"/>
            <a:ext cx="28346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15" name="Text 6"/>
          <p:cNvSpPr txBox="1"/>
          <p:nvPr>
            <p:ph type="body" idx="113" hasCustomPrompt="1"/>
          </p:nvPr>
        </p:nvSpPr>
        <p:spPr>
          <a:xfrm>
            <a:off x="8348472" y="4023360"/>
            <a:ext cx="28346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onsor: three logos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Sponsors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TIER SPONSORS</a:t>
            </a:r>
            <a:endParaRPr lang="en-US" sz="2800" dirty="0"/>
          </a:p>
        </p:txBody>
      </p:sp>
      <p:sp>
        <p:nvSpPr>
          <p:cNvPr id="7" name="Text 3"/>
          <p:cNvSpPr txBox="1"/>
          <p:nvPr>
            <p:ph type="body" idx="105" hasCustomPrompt="1"/>
          </p:nvPr>
        </p:nvSpPr>
        <p:spPr>
          <a:xfrm>
            <a:off x="1005840" y="2286000"/>
            <a:ext cx="28346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8" name="Text 3"/>
          <p:cNvSpPr txBox="1"/>
          <p:nvPr>
            <p:ph type="body" idx="106" hasCustomPrompt="1"/>
          </p:nvPr>
        </p:nvSpPr>
        <p:spPr>
          <a:xfrm>
            <a:off x="4681728" y="2286000"/>
            <a:ext cx="28346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9" name="Text 3"/>
          <p:cNvSpPr txBox="1"/>
          <p:nvPr>
            <p:ph type="body" idx="107" hasCustomPrompt="1"/>
          </p:nvPr>
        </p:nvSpPr>
        <p:spPr>
          <a:xfrm>
            <a:off x="8348472" y="2286000"/>
            <a:ext cx="28346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onsor: nine logos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Sponsors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TIER SPONSORS</a:t>
            </a:r>
            <a:endParaRPr lang="en-US" sz="2800" dirty="0"/>
          </a:p>
        </p:txBody>
      </p:sp>
      <p:sp>
        <p:nvSpPr>
          <p:cNvPr id="13" name="Text 9"/>
          <p:cNvSpPr txBox="1"/>
          <p:nvPr>
            <p:ph type="body" idx="111" hasCustomPrompt="1"/>
          </p:nvPr>
        </p:nvSpPr>
        <p:spPr>
          <a:xfrm>
            <a:off x="960120" y="1600200"/>
            <a:ext cx="292608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14" name="Text 9"/>
          <p:cNvSpPr txBox="1"/>
          <p:nvPr>
            <p:ph type="body" idx="112" hasCustomPrompt="1"/>
          </p:nvPr>
        </p:nvSpPr>
        <p:spPr>
          <a:xfrm>
            <a:off x="4636008" y="1600200"/>
            <a:ext cx="292608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15" name="Text 9"/>
          <p:cNvSpPr txBox="1"/>
          <p:nvPr>
            <p:ph type="body" idx="113" hasCustomPrompt="1"/>
          </p:nvPr>
        </p:nvSpPr>
        <p:spPr>
          <a:xfrm>
            <a:off x="8302752" y="1600200"/>
            <a:ext cx="292608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16" name="Text 9"/>
          <p:cNvSpPr txBox="1"/>
          <p:nvPr>
            <p:ph type="body" idx="114" hasCustomPrompt="1"/>
          </p:nvPr>
        </p:nvSpPr>
        <p:spPr>
          <a:xfrm>
            <a:off x="960120" y="3200400"/>
            <a:ext cx="292608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17" name="Text 9"/>
          <p:cNvSpPr txBox="1"/>
          <p:nvPr>
            <p:ph type="body" idx="115" hasCustomPrompt="1"/>
          </p:nvPr>
        </p:nvSpPr>
        <p:spPr>
          <a:xfrm>
            <a:off x="4636008" y="3200400"/>
            <a:ext cx="292608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18" name="Text 9"/>
          <p:cNvSpPr txBox="1"/>
          <p:nvPr>
            <p:ph type="body" idx="116" hasCustomPrompt="1"/>
          </p:nvPr>
        </p:nvSpPr>
        <p:spPr>
          <a:xfrm>
            <a:off x="8302752" y="3200400"/>
            <a:ext cx="292608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19" name="Text 9"/>
          <p:cNvSpPr txBox="1"/>
          <p:nvPr>
            <p:ph type="body" idx="117" hasCustomPrompt="1"/>
          </p:nvPr>
        </p:nvSpPr>
        <p:spPr>
          <a:xfrm>
            <a:off x="960120" y="4800600"/>
            <a:ext cx="292608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20" name="Text 9"/>
          <p:cNvSpPr txBox="1"/>
          <p:nvPr>
            <p:ph type="body" idx="118" hasCustomPrompt="1"/>
          </p:nvPr>
        </p:nvSpPr>
        <p:spPr>
          <a:xfrm>
            <a:off x="4636008" y="4800600"/>
            <a:ext cx="292608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21" name="Text 9"/>
          <p:cNvSpPr txBox="1"/>
          <p:nvPr>
            <p:ph type="body" idx="119" hasCustomPrompt="1"/>
          </p:nvPr>
        </p:nvSpPr>
        <p:spPr>
          <a:xfrm>
            <a:off x="8302752" y="4800600"/>
            <a:ext cx="292608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logo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(one line)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731520" y="2514600"/>
            <a:ext cx="1072865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600" spc="10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600" spc="10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SECTION TITLE</a:t>
            </a:r>
            <a:endParaRPr lang="en-US" sz="4600" dirty="0"/>
          </a:p>
        </p:txBody>
      </p:sp>
      <p:sp>
        <p:nvSpPr>
          <p:cNvPr id="3" name="Decorative cane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69768" y="3840480"/>
            <a:ext cx="5779008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5624" y="3781044"/>
            <a:ext cx="146304" cy="146304"/>
          </a:xfrm>
          <a:prstGeom prst="rect">
            <a:avLst/>
          </a:prstGeom>
        </p:spPr>
      </p:pic>
      <p:sp>
        <p:nvSpPr>
          <p:cNvPr id="5" name="Text 1"/>
          <p:cNvSpPr txBox="1"/>
          <p:nvPr>
            <p:ph type="body" idx="103" hasCustomPrompt="1"/>
          </p:nvPr>
        </p:nvSpPr>
        <p:spPr>
          <a:xfrm>
            <a:off x="1371600" y="4114800"/>
            <a:ext cx="94484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80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Optional second line</a:t>
            </a:r>
            <a:endParaRPr lang="en-US" sz="2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gram (title and lines)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731520" y="685800"/>
            <a:ext cx="1072865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spc="132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spc="132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TONIGHT</a:t>
            </a:r>
            <a:endParaRPr lang="en-US" sz="4400" dirty="0"/>
          </a:p>
        </p:txBody>
      </p:sp>
      <p:sp>
        <p:nvSpPr>
          <p:cNvPr id="3" name="Decorative cane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783080"/>
            <a:ext cx="4681728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0096" y="1723644"/>
            <a:ext cx="146304" cy="146304"/>
          </a:xfrm>
          <a:prstGeom prst="rect">
            <a:avLst/>
          </a:prstGeom>
        </p:spPr>
      </p:pic>
      <p:sp>
        <p:nvSpPr>
          <p:cNvPr id="5" name="Text 1"/>
          <p:cNvSpPr txBox="1"/>
          <p:nvPr>
            <p:ph type="body" idx="103" hasCustomPrompt="1"/>
          </p:nvPr>
        </p:nvSpPr>
        <p:spPr>
          <a:xfrm>
            <a:off x="731520" y="2194560"/>
            <a:ext cx="10728655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50000"/>
              </a:lnSpc>
              <a:buNone/>
              <a:defRPr lang="en-US" sz="2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lines</a:t>
            </a:r>
            <a:endParaRPr lang="en-US" sz="2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eaker (with headshot)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Speaker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pic" idx="101" hasCustomPrompt="1"/>
          </p:nvPr>
        </p:nvSpPr>
        <p:spPr>
          <a:xfrm>
            <a:off x="731520" y="1234440"/>
            <a:ext cx="3566160" cy="4389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Headshot</a:t>
            </a:r>
            <a:endParaRPr lang="en-US" dirty="0"/>
          </a:p>
        </p:txBody>
      </p:sp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4846320" y="2331720"/>
            <a:ext cx="661385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Speaker name</a:t>
            </a:r>
            <a:endParaRPr lang="en-US" sz="4800" dirty="0"/>
          </a:p>
        </p:txBody>
      </p:sp>
      <p:sp>
        <p:nvSpPr>
          <p:cNvPr id="5" name="Text 0"/>
          <p:cNvSpPr txBox="1"/>
          <p:nvPr>
            <p:ph type="body" idx="103" hasCustomPrompt="1"/>
          </p:nvPr>
        </p:nvSpPr>
        <p:spPr>
          <a:xfrm>
            <a:off x="4846320" y="3611880"/>
            <a:ext cx="661385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20000"/>
              </a:lnSpc>
              <a:buNone/>
              <a:defRPr lang="en-US" sz="2800" spc="34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indent="0" marL="0">
              <a:lnSpc>
                <a:spcPct val="120000"/>
              </a:lnSpc>
              <a:buNone/>
            </a:pPr>
            <a:r>
              <a:rPr lang="en-US" sz="2800" spc="34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TITLE OR ROLE</a:t>
            </a:r>
            <a:endParaRPr lang="en-US" sz="2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eaker (no headshot)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Speaker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2286000"/>
            <a:ext cx="1072865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54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Speaker name</a:t>
            </a:r>
            <a:endParaRPr lang="en-US" sz="5400" dirty="0"/>
          </a:p>
        </p:txBody>
      </p:sp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31520" y="3611880"/>
            <a:ext cx="1072865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lnSpc>
                <a:spcPct val="120000"/>
              </a:lnSpc>
              <a:buNone/>
              <a:defRPr lang="en-US" sz="2800" spc="34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ctr" indent="0" marL="0">
              <a:lnSpc>
                <a:spcPct val="120000"/>
              </a:lnSpc>
              <a:buNone/>
            </a:pPr>
            <a:r>
              <a:rPr lang="en-US" sz="2800" spc="34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TITLE OR ROLE</a:t>
            </a:r>
            <a:endParaRPr lang="en-US" sz="2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title card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914400" y="1737360"/>
            <a:ext cx="1036289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lnSpc>
                <a:spcPct val="105000"/>
              </a:lnSpc>
              <a:buNone/>
              <a:defRPr lang="en-US" sz="540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ctr" indent="0" marL="0">
              <a:lnSpc>
                <a:spcPct val="105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Video title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1371600" y="3977640"/>
            <a:ext cx="94484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lnSpc>
                <a:spcPct val="120000"/>
              </a:lnSpc>
              <a:buNone/>
              <a:defRPr lang="en-US" sz="280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lnSpc>
                <a:spcPct val="120000"/>
              </a:lnSpc>
              <a:buNone/>
            </a:pPr>
            <a:r>
              <a:rPr lang="en-US" sz="280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One-line setup for the emcee</a:t>
            </a:r>
            <a:endParaRPr lang="en-US" sz="2800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d-A-Need level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Fund-A-Need level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FUND-A-NEED</a:t>
            </a:r>
            <a:endParaRPr lang="en-US" sz="2800" dirty="0"/>
          </a:p>
        </p:txBody>
      </p:sp>
      <p:sp>
        <p:nvSpPr>
          <p:cNvPr id="4" name="Decorative level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965960"/>
            <a:ext cx="6949440" cy="1600200"/>
          </a:xfrm>
          <a:prstGeom prst="rect">
            <a:avLst/>
          </a:prstGeom>
          <a:solidFill>
            <a:srgbClr val="E4002B"/>
          </a:solidFill>
          <a:ln w="12700">
            <a:solidFill>
              <a:srgbClr val="E4002B"/>
            </a:solidFill>
            <a:prstDash val="solid"/>
          </a:ln>
        </p:spPr>
      </p:sp>
      <p:sp>
        <p:nvSpPr>
          <p:cNvPr id="5" name="Text 1"/>
          <p:cNvSpPr txBox="1"/>
          <p:nvPr>
            <p:ph type="body" idx="103" hasCustomPrompt="1"/>
          </p:nvPr>
        </p:nvSpPr>
        <p:spPr>
          <a:xfrm>
            <a:off x="1051560" y="1965960"/>
            <a:ext cx="63093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80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indent="0" marL="0">
              <a:buNone/>
            </a:pPr>
            <a:r>
              <a:rPr lang="en-US" sz="880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$0,000</a:t>
            </a:r>
            <a:endParaRPr lang="en-US" sz="8800" dirty="0"/>
          </a:p>
        </p:txBody>
      </p:sp>
      <p:sp>
        <p:nvSpPr>
          <p:cNvPr id="6" name="Text 1"/>
          <p:cNvSpPr txBox="1"/>
          <p:nvPr>
            <p:ph type="body" idx="104" hasCustomPrompt="1"/>
          </p:nvPr>
        </p:nvSpPr>
        <p:spPr>
          <a:xfrm>
            <a:off x="731520" y="3931920"/>
            <a:ext cx="1072865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25000"/>
              </a:lnSpc>
              <a:buNone/>
              <a:defRPr lang="en-US" sz="3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a gift at this level makes possible</a:t>
            </a:r>
            <a:endParaRPr lang="en-US" sz="3200" dirty="0"/>
          </a:p>
        </p:txBody>
      </p:sp>
      <p:sp>
        <p:nvSpPr>
          <p:cNvPr id="7" name="Text 1"/>
          <p:cNvSpPr txBox="1"/>
          <p:nvPr>
            <p:ph type="body" idx="105" hasCustomPrompt="1"/>
          </p:nvPr>
        </p:nvSpPr>
        <p:spPr>
          <a:xfrm>
            <a:off x="731520" y="5760720"/>
            <a:ext cx="10728655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spc="29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indent="0" marL="0">
              <a:buNone/>
            </a:pPr>
            <a:r>
              <a:rPr lang="en-US" sz="2400" spc="29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ALL LEVELS</a:t>
            </a:r>
            <a:endParaRPr lang="en-US" sz="24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ction or mobile bidding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body" idx="100" hasCustomPrompt="1"/>
          </p:nvPr>
        </p:nvSpPr>
        <p:spPr>
          <a:xfrm>
            <a:off x="731520" y="731520"/>
            <a:ext cx="1072865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MOBILE BIDDING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type="title" idx="101" hasCustomPrompt="1"/>
          </p:nvPr>
        </p:nvSpPr>
        <p:spPr>
          <a:xfrm>
            <a:off x="731520" y="1371600"/>
            <a:ext cx="1072865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Bidding closes at 0:00 PM</a:t>
            </a:r>
            <a:endParaRPr lang="en-US" sz="4400" dirty="0"/>
          </a:p>
        </p:txBody>
      </p:sp>
      <p:sp>
        <p:nvSpPr>
          <p:cNvPr id="5" name="Text 1"/>
          <p:cNvSpPr txBox="1"/>
          <p:nvPr>
            <p:ph type="body" idx="103" hasCustomPrompt="1"/>
          </p:nvPr>
        </p:nvSpPr>
        <p:spPr>
          <a:xfrm>
            <a:off x="4815688" y="2788920"/>
            <a:ext cx="256032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6E6E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Click the icon to add the QR code</a:t>
            </a:r>
            <a:endParaRPr lang="en-US" sz="1800" dirty="0"/>
          </a:p>
        </p:txBody>
      </p:sp>
      <p:sp>
        <p:nvSpPr>
          <p:cNvPr id="6" name="Text 1"/>
          <p:cNvSpPr txBox="1"/>
          <p:nvPr>
            <p:ph type="body" idx="104" hasCustomPrompt="1"/>
          </p:nvPr>
        </p:nvSpPr>
        <p:spPr>
          <a:xfrm>
            <a:off x="731520" y="5760720"/>
            <a:ext cx="10728655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EveningWithEnvision.com</a:t>
            </a:r>
            <a:endParaRPr lang="en-US" sz="30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nvisio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66928"/>
            <a:ext cx="2377440" cy="47698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85455" y="502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spc="32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PRESENTED BY</a:t>
            </a:r>
            <a:endParaRPr lang="en-US" sz="1800" dirty="0"/>
          </a:p>
        </p:txBody>
      </p:sp>
      <p:pic>
        <p:nvPicPr>
          <p:cNvPr id="4" name="Image 1" descr="HighTouch Technologie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495" y="822960"/>
            <a:ext cx="2011680" cy="483731"/>
          </a:xfrm>
          <a:prstGeom prst="rect">
            <a:avLst/>
          </a:prstGeom>
        </p:spPr>
      </p:pic>
      <p:sp>
        <p:nvSpPr>
          <p:cNvPr id="5" name="Text 1"/>
          <p:cNvSpPr txBox="1"/>
          <p:nvPr>
            <p:ph type="title" idx="103" hasCustomPrompt="1"/>
          </p:nvPr>
        </p:nvSpPr>
        <p:spPr>
          <a:xfrm>
            <a:off x="731520" y="2240280"/>
            <a:ext cx="10728655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7200" spc="216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7200" spc="216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6" name="Decorative cane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69768" y="3794760"/>
            <a:ext cx="5779008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5624" y="3735324"/>
            <a:ext cx="146304" cy="146304"/>
          </a:xfrm>
          <a:prstGeom prst="rect">
            <a:avLst/>
          </a:prstGeom>
        </p:spPr>
      </p:pic>
      <p:sp>
        <p:nvSpPr>
          <p:cNvPr id="8" name="Text 2"/>
          <p:cNvSpPr txBox="1"/>
          <p:nvPr>
            <p:ph type="body" idx="106" hasCustomPrompt="1"/>
          </p:nvPr>
        </p:nvSpPr>
        <p:spPr>
          <a:xfrm>
            <a:off x="1371600" y="4114800"/>
            <a:ext cx="944849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lnSpc>
                <a:spcPct val="125000"/>
              </a:lnSpc>
              <a:buNone/>
              <a:defRPr lang="en-US" sz="280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C9C9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Closing line</a:t>
            </a:r>
            <a:endParaRPr lang="en-US" sz="2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4" Type="http://schemas.openxmlformats.org/officeDocument/2006/relationships/slideLayout" Target="../slideLayouts/slideLayout15.xml"/><Relationship Id="rId5" Type="http://schemas.openxmlformats.org/officeDocument/2006/relationships/notesSlide" Target="../notesSlides/notesSlide10.xml"/><Relationship Id="rId6" Type="http://schemas.openxmlformats.org/officeDocument/2006/relationships/image" Target="../media/logo_allen_exploration.png"/><Relationship Id="rId7" Type="http://schemas.openxmlformats.org/officeDocument/2006/relationships/image" Target="../media/logo_lc_industries_foundation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1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6.xml"/><Relationship Id="rId4" Type="http://schemas.openxmlformats.org/officeDocument/2006/relationships/image" Target="../media/logo_forvis_mazars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image" Target="../media/image-54-2.jp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54.xml"/></Relationships>
</file>

<file path=ppt/slides/_rels/slide19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22.xml"/><Relationship Id="rId7" Type="http://schemas.openxmlformats.org/officeDocument/2006/relationships/image" Target="../media/logo_6_meridian.png"/><Relationship Id="rId8" Type="http://schemas.openxmlformats.org/officeDocument/2006/relationships/image" Target="../media/logo_ima.png"/><Relationship Id="rId9" Type="http://schemas.openxmlformats.org/officeDocument/2006/relationships/image" Target="../media/logo_hutton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5.xml"/></Relationships>
</file>

<file path=ppt/slides/_rels/slide25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image" Target="../media/image-56-2.jp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5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image" Target="../media/image-61-2.jp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61.xml"/></Relationships>
</file>

<file path=ppt/slides/_rels/slide31.xml.rels><?xml version='1.0' encoding='UTF-8' standalone='yes'?>
<Relationships xmlns="http://schemas.openxmlformats.org/package/2006/relationships"><Relationship Id="rId10" Type="http://schemas.openxmlformats.org/officeDocument/2006/relationships/slideLayout" Target="../slideLayouts/slideLayout16.xml"/><Relationship Id="rId11" Type="http://schemas.openxmlformats.org/officeDocument/2006/relationships/notesSlide" Target="../notesSlides/notesSlide34.xml"/><Relationship Id="rId12" Type="http://schemas.openxmlformats.org/officeDocument/2006/relationships/image" Target="../media/logo_ads.png"/><Relationship Id="rId13" Type="http://schemas.openxmlformats.org/officeDocument/2006/relationships/image" Target="../media/logo_corza_medical.png"/><Relationship Id="rId14" Type="http://schemas.openxmlformats.org/officeDocument/2006/relationships/image" Target="../media/logo_arsi.png"/><Relationship Id="rId15" Type="http://schemas.openxmlformats.org/officeDocument/2006/relationships/image" Target="../media/logo_eby.png"/><Relationship Id="rId16" Type="http://schemas.openxmlformats.org/officeDocument/2006/relationships/image" Target="../media/logo_belleville.png"/><Relationship Id="rId17" Type="http://schemas.openxmlformats.org/officeDocument/2006/relationships/image" Target="../media/logo_enza_financial.png"/><Relationship Id="rId18" Type="http://schemas.openxmlformats.org/officeDocument/2006/relationships/image" Target="../media/logo_massif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6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image" Target="../media/image-65-2.png"/><Relationship Id="rId3" Type="http://schemas.openxmlformats.org/officeDocument/2006/relationships/image" Target="../media/image-6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6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image" Target="../media/image-68-2.jp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6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image" Target="../media/image-69-2.jp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6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image" Target="../media/image-70-2.jp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70.xml"/></Relationships>
</file>

<file path=ppt/slides/_rels/slide40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8.xml"/><Relationship Id="rId10" Type="http://schemas.openxmlformats.org/officeDocument/2006/relationships/image" Target="../media/image-72-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Welcome to A Night For Vision</a:t>
            </a:r>
            <a:endParaRPr lang="en-US" sz="1800" dirty="0"/>
          </a:p>
        </p:txBody>
      </p:sp>
    </p:spTree>
  </p:cSld>
  <p:clrMapOvr>
    <a:masterClrMapping/>
  </p:clrMapOvr>
  <p:transition spd="slow" advClick="1" advTm="8000">
    <p:push dir="l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1: 1930s, FIRST PROGRAM PARTICIPANT</a:t>
            </a:r>
            <a:endParaRPr lang="en-US" sz="1800" dirty="0"/>
          </a:p>
        </p:txBody>
      </p:sp>
      <p:pic>
        <p:nvPicPr>
          <p:cNvPr id="3" name="Image 0" descr="Black and white studio portrait of a woman in a dark dress standing with her guide dog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777240"/>
            <a:ext cx="6803136" cy="461772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1930s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FIRST PROGRAM PARTICIPANT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2: 1940s, EMPLOYMENT PROGRAM PARTICIPANT</a:t>
            </a:r>
            <a:endParaRPr lang="en-US" sz="1800" dirty="0"/>
          </a:p>
        </p:txBody>
      </p:sp>
      <p:pic>
        <p:nvPicPr>
          <p:cNvPr id="3" name="Image 0" descr="Archival photo: a man in a cap and apron works a broom-making machine while five visitors in 1940s suits and dresses watch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Decorative scrim" descr="/home/claude/build/assets/scrim_bottom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Decorative tim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129784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5047488"/>
            <a:ext cx="201168" cy="201168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type="body" idx="102" hasCustomPrompt="1"/>
          </p:nvPr>
        </p:nvSpPr>
        <p:spPr>
          <a:xfrm>
            <a:off x="6949440" y="3713378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1940s</a:t>
            </a:r>
            <a:endParaRPr lang="en-US" sz="7200" dirty="0"/>
          </a:p>
        </p:txBody>
      </p:sp>
      <p:sp>
        <p:nvSpPr>
          <p:cNvPr id="7" name="Text 0"/>
          <p:cNvSpPr txBox="1"/>
          <p:nvPr>
            <p:ph type="body" idx="104" hasCustomPrompt="1"/>
          </p:nvPr>
        </p:nvSpPr>
        <p:spPr>
          <a:xfrm>
            <a:off x="5943600" y="5486400"/>
            <a:ext cx="5504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EMPLOYMENT PROGRAM PARTICIPANT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Presenting sponsor HighTouch Technologies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PRESENTING SPONSOR</a:t>
            </a:r>
            <a:endParaRPr lang="en-US" sz="2800" dirty="0"/>
          </a:p>
        </p:txBody>
      </p:sp>
      <p:pic>
        <p:nvPicPr>
          <p:cNvPr id="4" name="Image 0" descr="HighTouch Technologies logo">    </p:cNvPr>
          <p:cNvPicPr>
            <a:picLocks noChangeAspect="1"/>
          </p:cNvPicPr>
          <p:nvPr>
            <p:ph type="body" idx="103" hasCustomPrompt="1"/>
          </p:nvPr>
        </p:nvPicPr>
        <p:blipFill>
          <a:blip r:embed="rId1"/>
          <a:stretch>
            <a:fillRect/>
          </a:stretch>
        </p:blipFill>
        <p:spPr>
          <a:xfrm>
            <a:off x="3740993" y="2979070"/>
            <a:ext cx="4716109" cy="1082740"/>
          </a:xfrm>
          <a:prstGeom prst="rect">
            <a:avLst/>
          </a:prstGeom>
        </p:spPr>
      </p:pic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3: 1940s, PROGRAM PARTICIPANT AND FAMILY</a:t>
            </a:r>
            <a:endParaRPr lang="en-US" sz="1800" dirty="0"/>
          </a:p>
        </p:txBody>
      </p:sp>
      <p:pic>
        <p:nvPicPr>
          <p:cNvPr id="3" name="Image 0" descr="Archival photo: a mother and father hold a laughing baby beside a house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777240"/>
            <a:ext cx="6803136" cy="461772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1940s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PROGRAM PARTICIPANT AND FAMILY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4: 1950s, ENVISION PROGRAMS DANCE CLASS</a:t>
            </a:r>
            <a:endParaRPr lang="en-US" sz="1800" dirty="0"/>
          </a:p>
        </p:txBody>
      </p:sp>
      <p:pic>
        <p:nvPicPr>
          <p:cNvPr id="3" name="Image 0" descr="Archival photo: two couples dance in a curtained room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0" y="0"/>
            <a:ext cx="7315200" cy="68580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635240" y="371337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1950s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635240" y="5486400"/>
            <a:ext cx="3822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PROGRAMS DANCE CLASS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5: 1970s, EMPLOYMENT IN WICHITA</a:t>
            </a:r>
            <a:endParaRPr lang="en-US" sz="1800" dirty="0"/>
          </a:p>
        </p:txBody>
      </p:sp>
      <p:pic>
        <p:nvPicPr>
          <p:cNvPr id="3" name="Image 0" descr="Archival photo: a woman operates a drill press at a workbench in an Envision workshop, with a coworker at the next station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Decorative scrim" descr="/home/claude/build/assets/scrim_bottom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Decorative tim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129784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5047488"/>
            <a:ext cx="201168" cy="201168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type="body" idx="102" hasCustomPrompt="1"/>
          </p:nvPr>
        </p:nvSpPr>
        <p:spPr>
          <a:xfrm>
            <a:off x="6949440" y="3713378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1970s</a:t>
            </a:r>
            <a:endParaRPr lang="en-US" sz="7200" dirty="0"/>
          </a:p>
        </p:txBody>
      </p:sp>
      <p:sp>
        <p:nvSpPr>
          <p:cNvPr id="7" name="Text 0"/>
          <p:cNvSpPr txBox="1"/>
          <p:nvPr>
            <p:ph type="body" idx="104" hasCustomPrompt="1"/>
          </p:nvPr>
        </p:nvSpPr>
        <p:spPr>
          <a:xfrm>
            <a:off x="5943600" y="5486400"/>
            <a:ext cx="5504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EMPLOYMENT IN WICHITA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6: 1990s, PRIDE PROGRAM AT BOTANICA</a:t>
            </a:r>
            <a:endParaRPr lang="en-US" sz="1800" dirty="0"/>
          </a:p>
        </p:txBody>
      </p:sp>
      <p:pic>
        <p:nvPicPr>
          <p:cNvPr id="3" name="Image 0" descr="Five people in a garden hold potted yellow flowers; two wear white sun hats and one holds a white cane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777240"/>
            <a:ext cx="6803136" cy="461772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1990s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PRIDE PROGRAM AT BOTANICA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Corporate sponsors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CORPORATE SPONSORS</a:t>
            </a:r>
            <a:endParaRPr lang="en-US" sz="2800" dirty="0"/>
          </a:p>
        </p:txBody>
      </p:sp>
      <p:pic>
        <p:nvPicPr>
          <p:cNvPr id="9006" name="Allen Exploration logo" descr="Allen Exploration 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2611" y="2868109"/>
            <a:ext cx="2381098" cy="847463"/>
          </a:xfrm>
          <a:prstGeom prst="rect">
            <a:avLst/>
          </a:prstGeom>
        </p:spPr>
      </p:pic>
      <p:sp>
        <p:nvSpPr>
          <p:cNvPr id="9004" name="SPR (name)"/>
          <p:cNvSpPr txBox="1"/>
          <p:nvPr/>
        </p:nvSpPr>
        <p:spPr>
          <a:xfrm>
            <a:off x="4681728" y="242316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ctr" rtlCol="0">
            <a:normAutofit/>
          </a:bodyPr>
          <a:lstStyle/>
          <a:p>
            <a:pPr algn="ctr"/>
            <a:r>
              <a:rPr lang="en-US" sz="3200" dirty="0">
                <a:solidFill>
                  <a:srgbClr val="FFFFFF"/>
                </a:solidFill>
                <a:latin typeface="Montserrat Light"/>
                <a:cs typeface="Montserrat Light"/>
              </a:rPr>
              <a:t>SPR</a:t>
            </a:r>
          </a:p>
        </p:txBody>
      </p:sp>
      <p:pic>
        <p:nvPicPr>
          <p:cNvPr id="9007" name="LC Industries Foundation logo" descr="LC Industries Foundation 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5243" y="3047142"/>
            <a:ext cx="2381098" cy="489396"/>
          </a:xfrm>
          <a:prstGeom prst="rect">
            <a:avLst/>
          </a:prstGeom>
        </p:spPr>
      </p:pic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7: 1990s, PROGRAM PARTICIPANTS</a:t>
            </a:r>
            <a:endParaRPr lang="en-US" sz="1800" dirty="0"/>
          </a:p>
        </p:txBody>
      </p:sp>
      <p:pic>
        <p:nvPicPr>
          <p:cNvPr id="3" name="Image 0" descr="Two girls in glasses smile close together, one in a camp shirt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777240"/>
            <a:ext cx="6803136" cy="461772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1990s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PROGRAM PARTICIPANTS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8: 1990s, ENVISION PROGRAM PARTICIPANT</a:t>
            </a:r>
            <a:endParaRPr lang="en-US" sz="1800" dirty="0"/>
          </a:p>
        </p:txBody>
      </p:sp>
      <p:pic>
        <p:nvPicPr>
          <p:cNvPr id="3" name="Image 0" descr="A woman plays piano beneath an Envision banner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0" y="0"/>
            <a:ext cx="7315200" cy="68580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635240" y="371337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1990s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635240" y="5486400"/>
            <a:ext cx="3822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PROGRAM PARTICIPANT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12: 2000s, CAMPER &amp; DELTA GAMMA VOLUNTEER</a:t>
            </a:r>
            <a:endParaRPr lang="en-US" sz="1800" dirty="0"/>
          </a:p>
        </p:txBody>
      </p:sp>
      <p:pic>
        <p:nvPicPr>
          <p:cNvPr id="3" name="Image 0" descr="A counselor in a red shirt gives a young camper a piggyback ride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0" y="0"/>
            <a:ext cx="7315200" cy="68580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635240" y="371337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2000s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635240" y="5486400"/>
            <a:ext cx="3822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CAMPER &amp; DELTA GAMMA VOLUNTEER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17: 2000s, HEATHER’S CAMP PROGRAM PARTICIPANTS</a:t>
            </a:r>
            <a:endParaRPr lang="en-US" sz="1800" dirty="0"/>
          </a:p>
        </p:txBody>
      </p:sp>
      <p:pic>
        <p:nvPicPr>
          <p:cNvPr id="3" name="Image 0" descr="Campers gather around a campfire while a counselor plays guitar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777240"/>
            <a:ext cx="6803136" cy="461772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2000s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HEATHER’S CAMP PROGRAM PARTICIPANTS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Platinum level sponsor Forvis Mazars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PLATINUM LEVEL SPONSOR</a:t>
            </a:r>
            <a:endParaRPr lang="en-US" sz="2800" dirty="0"/>
          </a:p>
        </p:txBody>
      </p:sp>
      <p:pic>
        <p:nvPicPr>
          <p:cNvPr id="9004" name="Forvis Mazars logo" descr="Forvis Mazars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0993" y="2531040"/>
            <a:ext cx="4716109" cy="1978801"/>
          </a:xfrm>
          <a:prstGeom prst="rect">
            <a:avLst/>
          </a:prstGeom>
        </p:spPr>
      </p:pic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23: 2000s, HEATHER’S CAMP, CAMPER &amp; DELTA GAMMA VOLUNTEERS</a:t>
            </a:r>
            <a:endParaRPr lang="en-US" sz="1800" dirty="0"/>
          </a:p>
        </p:txBody>
      </p:sp>
      <p:pic>
        <p:nvPicPr>
          <p:cNvPr id="3" name="Image 0" descr="A camper sits in a wheelchair with two counselors leaning in beside her outdoors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822960"/>
            <a:ext cx="5212080" cy="3538728"/>
          </a:xfrm>
          <a:prstGeom prst="rect">
            <a:avLst/>
          </a:prstGeom>
        </p:spPr>
      </p:pic>
      <p:pic>
        <p:nvPicPr>
          <p:cNvPr id="4" name="Image 1" descr="Campers and counselors in yellow camp shirts pose under the Heather’s Camp banner">    </p:cNvPr>
          <p:cNvPicPr>
            <a:picLocks noChangeAspect="1"/>
          </p:cNvPicPr>
          <p:nvPr>
            <p:ph type="pic" idx="102" hasCustomPrompt="1"/>
          </p:nvPr>
        </p:nvPicPr>
        <p:blipFill>
          <a:blip r:embed="rId2"/>
          <a:srcRect l="0" r="0" t="0" b="0"/>
          <a:stretch/>
        </p:blipFill>
        <p:spPr>
          <a:xfrm>
            <a:off x="6245352" y="822960"/>
            <a:ext cx="5212080" cy="35387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6858000" y="3713378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2000s</a:t>
            </a:r>
            <a:endParaRPr lang="en-US" sz="7200" dirty="0"/>
          </a:p>
        </p:txBody>
      </p:sp>
      <p:sp>
        <p:nvSpPr>
          <p:cNvPr id="6" name="Text 0"/>
          <p:cNvSpPr txBox="1"/>
          <p:nvPr>
            <p:ph type="body" idx="103" hasCustomPrompt="1"/>
          </p:nvPr>
        </p:nvSpPr>
        <p:spPr>
          <a:xfrm>
            <a:off x="731520" y="54864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HEATHER’S CAMP, CAMPER &amp; DELTA GAMMA VOLUNTEERS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21: 2000s, HEATHER’S CAMP</a:t>
            </a:r>
            <a:endParaRPr lang="en-US" sz="1800" dirty="0"/>
          </a:p>
        </p:txBody>
      </p:sp>
      <p:pic>
        <p:nvPicPr>
          <p:cNvPr id="3" name="Image 0" descr="A camper in a helmet rides a horse while a counselor holds the reins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822960"/>
            <a:ext cx="5212080" cy="3538728"/>
          </a:xfrm>
          <a:prstGeom prst="rect">
            <a:avLst/>
          </a:prstGeom>
        </p:spPr>
      </p:pic>
      <p:pic>
        <p:nvPicPr>
          <p:cNvPr id="4" name="Image 1" descr="A camper in a helmet sits on a gray horse">    </p:cNvPr>
          <p:cNvPicPr>
            <a:picLocks noChangeAspect="1"/>
          </p:cNvPicPr>
          <p:nvPr>
            <p:ph type="pic" idx="102" hasCustomPrompt="1"/>
          </p:nvPr>
        </p:nvPicPr>
        <p:blipFill>
          <a:blip r:embed="rId2"/>
          <a:srcRect l="0" r="0" t="0" b="0"/>
          <a:stretch/>
        </p:blipFill>
        <p:spPr>
          <a:xfrm>
            <a:off x="6245352" y="822960"/>
            <a:ext cx="5212080" cy="35387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6858000" y="3713378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2000s</a:t>
            </a:r>
            <a:endParaRPr lang="en-US" sz="7200" dirty="0"/>
          </a:p>
        </p:txBody>
      </p:sp>
      <p:sp>
        <p:nvSpPr>
          <p:cNvPr id="6" name="Text 0"/>
          <p:cNvSpPr txBox="1"/>
          <p:nvPr>
            <p:ph type="body" idx="103" hasCustomPrompt="1"/>
          </p:nvPr>
        </p:nvSpPr>
        <p:spPr>
          <a:xfrm>
            <a:off x="731520" y="54864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HEATHER’S CAMP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25: 2000s, ENVISION PROGRAMS</a:t>
            </a:r>
            <a:endParaRPr lang="en-US" sz="1800" dirty="0"/>
          </a:p>
        </p:txBody>
      </p:sp>
      <p:pic>
        <p:nvPicPr>
          <p:cNvPr id="3" name="Image 0" descr="Campers line up with bows drawn at an archery range in the woods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Decorative scrim" descr="/home/claude/build/assets/scrim_bottom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Decorative tim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129784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5047488"/>
            <a:ext cx="201168" cy="201168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type="body" idx="102" hasCustomPrompt="1"/>
          </p:nvPr>
        </p:nvSpPr>
        <p:spPr>
          <a:xfrm>
            <a:off x="6949440" y="3713378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2000s</a:t>
            </a:r>
            <a:endParaRPr lang="en-US" sz="7200" dirty="0"/>
          </a:p>
        </p:txBody>
      </p:sp>
      <p:sp>
        <p:nvSpPr>
          <p:cNvPr id="7" name="Text 0"/>
          <p:cNvSpPr txBox="1"/>
          <p:nvPr>
            <p:ph type="body" idx="104" hasCustomPrompt="1"/>
          </p:nvPr>
        </p:nvSpPr>
        <p:spPr>
          <a:xfrm>
            <a:off x="5943600" y="5486400"/>
            <a:ext cx="5504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PROGRAMS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41: 2010s, ENVISION CHILD DEVELOPMENT CENTER</a:t>
            </a:r>
            <a:endParaRPr lang="en-US" sz="1800" dirty="0"/>
          </a:p>
        </p:txBody>
      </p:sp>
      <p:pic>
        <p:nvPicPr>
          <p:cNvPr id="3" name="Image 0" descr="Children and staff hold an oversized check from KU Wichita Pediatrics in front of the Envision Child Development Center entrance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822960"/>
            <a:ext cx="5212080" cy="3538728"/>
          </a:xfrm>
          <a:prstGeom prst="rect">
            <a:avLst/>
          </a:prstGeom>
        </p:spPr>
      </p:pic>
      <p:pic>
        <p:nvPicPr>
          <p:cNvPr id="4" name="Image 1" descr="Seven children in pajamas stand with Santa holding a Happy Holidays sign from the Envision Child Development Center">    </p:cNvPr>
          <p:cNvPicPr>
            <a:picLocks noChangeAspect="1"/>
          </p:cNvPicPr>
          <p:nvPr>
            <p:ph type="pic" idx="102" hasCustomPrompt="1"/>
          </p:nvPr>
        </p:nvPicPr>
        <p:blipFill>
          <a:blip r:embed="rId2"/>
          <a:srcRect l="0" r="0" t="0" b="0"/>
          <a:stretch/>
        </p:blipFill>
        <p:spPr>
          <a:xfrm>
            <a:off x="6245352" y="822960"/>
            <a:ext cx="5212080" cy="35387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6858000" y="3713378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2010s</a:t>
            </a:r>
            <a:endParaRPr lang="en-US" sz="7200" dirty="0"/>
          </a:p>
        </p:txBody>
      </p:sp>
      <p:sp>
        <p:nvSpPr>
          <p:cNvPr id="6" name="Text 0"/>
          <p:cNvSpPr txBox="1"/>
          <p:nvPr>
            <p:ph type="body" idx="103" hasCustomPrompt="1"/>
          </p:nvPr>
        </p:nvSpPr>
        <p:spPr>
          <a:xfrm>
            <a:off x="731520" y="54864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CHILD DEVELOPMENT CENTER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Diamond level sponsors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DIAMOND LEVEL SPONSORS</a:t>
            </a:r>
            <a:endParaRPr lang="en-US" sz="2800" dirty="0"/>
          </a:p>
        </p:txBody>
      </p:sp>
      <p:pic>
        <p:nvPicPr>
          <p:cNvPr id="9007" name="6 Meridian logo" descr="6 Meridian 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9850" y="2122442"/>
            <a:ext cx="3686861" cy="784317"/>
          </a:xfrm>
          <a:prstGeom prst="rect">
            <a:avLst/>
          </a:prstGeom>
        </p:spPr>
      </p:pic>
      <p:sp>
        <p:nvSpPr>
          <p:cNvPr id="9004" name="Summit Films (name)"/>
          <p:cNvSpPr txBox="1"/>
          <p:nvPr/>
        </p:nvSpPr>
        <p:spPr>
          <a:xfrm>
            <a:off x="6611112" y="1737360"/>
            <a:ext cx="4389120" cy="1554480"/>
          </a:xfrm>
          <a:prstGeom prst="rect">
            <a:avLst/>
          </a:prstGeom>
          <a:noFill/>
        </p:spPr>
        <p:txBody>
          <a:bodyPr wrap="square" lIns="0" tIns="0" rIns="0" bIns="0" anchor="ctr" rtlCol="0">
            <a:normAutofit/>
          </a:bodyPr>
          <a:lstStyle/>
          <a:p>
            <a:pPr algn="ctr"/>
            <a:r>
              <a:rPr lang="en-US" sz="3600" dirty="0">
                <a:solidFill>
                  <a:srgbClr val="FFFFFF"/>
                </a:solidFill>
                <a:latin typeface="Montserrat Light"/>
                <a:cs typeface="Montserrat Light"/>
              </a:rPr>
              <a:t>Summit Films</a:t>
            </a:r>
          </a:p>
        </p:txBody>
      </p:sp>
      <p:pic>
        <p:nvPicPr>
          <p:cNvPr id="9008" name="IMA logo" descr="IMA 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74240" y="4193438"/>
            <a:ext cx="2418080" cy="1305763"/>
          </a:xfrm>
          <a:prstGeom prst="rect">
            <a:avLst/>
          </a:prstGeom>
        </p:spPr>
      </p:pic>
      <p:pic>
        <p:nvPicPr>
          <p:cNvPr id="9009" name="Hutton logo" descr="Hutton log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2242" y="4410041"/>
            <a:ext cx="3686861" cy="872557"/>
          </a:xfrm>
          <a:prstGeom prst="rect">
            <a:avLst/>
          </a:prstGeom>
        </p:spPr>
      </p:pic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34: 2010s, ENVISION CHILD DEVELOPMENT CENTER</a:t>
            </a:r>
            <a:endParaRPr lang="en-US" sz="1800" dirty="0"/>
          </a:p>
        </p:txBody>
      </p:sp>
      <p:pic>
        <p:nvPicPr>
          <p:cNvPr id="3" name="Image 0" descr="A young girl in glasses smiling while holding a white cane in a hallway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777240"/>
            <a:ext cx="3186684" cy="4617720"/>
          </a:xfrm>
          <a:prstGeom prst="rect">
            <a:avLst/>
          </a:prstGeom>
        </p:spPr>
      </p:pic>
      <p:pic>
        <p:nvPicPr>
          <p:cNvPr id="4" name="Image 1" descr="A young child in a pink Envision Child Development Center shirt and sunglasses eating a cookie beside a white cane">    </p:cNvPr>
          <p:cNvPicPr>
            <a:picLocks noChangeAspect="1"/>
          </p:cNvPicPr>
          <p:nvPr>
            <p:ph type="pic" idx="102" hasCustomPrompt="1"/>
          </p:nvPr>
        </p:nvPicPr>
        <p:blipFill>
          <a:blip r:embed="rId2"/>
          <a:srcRect l="0" r="0" t="0" b="0"/>
          <a:stretch/>
        </p:blipFill>
        <p:spPr>
          <a:xfrm>
            <a:off x="4192524" y="777240"/>
            <a:ext cx="3186684" cy="46177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type="body" idx="103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2010s</a:t>
            </a:r>
            <a:endParaRPr lang="en-US" sz="7200" dirty="0"/>
          </a:p>
        </p:txBody>
      </p:sp>
      <p:sp>
        <p:nvSpPr>
          <p:cNvPr id="6" name="Text 0"/>
          <p:cNvSpPr txBox="1"/>
          <p:nvPr>
            <p:ph type="body" idx="105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CHILD DEVELOPMENT CENTER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36: 2010s, ENVISION LOW VISION CLINIC REHABILITATION PROGRAM PARTICIPANT</a:t>
            </a:r>
            <a:endParaRPr lang="en-US" sz="1800" dirty="0"/>
          </a:p>
        </p:txBody>
      </p:sp>
      <p:pic>
        <p:nvPicPr>
          <p:cNvPr id="3" name="Image 0" descr="A woman wearing amber low vision glasses reads a package label with a staff member beside her in a store display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t="13800" b="13800"/>
          <a:stretch/>
        </p:blipFill>
        <p:spPr>
          <a:xfrm>
            <a:off x="731520" y="777240"/>
            <a:ext cx="6803136" cy="461772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2010s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LOW VISION CLINIC REHABILITATION PROGRAM PARTICIPANT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37: 2010s, HEATHER’S CAMP, CAMPERS &amp; DELTA GAMMA VOLUNTEER</a:t>
            </a:r>
            <a:endParaRPr lang="en-US" sz="1800" dirty="0"/>
          </a:p>
        </p:txBody>
      </p:sp>
      <p:pic>
        <p:nvPicPr>
          <p:cNvPr id="3" name="Image 0" descr="A camp counselor in sunglasses laughs with two girls outdoors in the sun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Decorative scrim" descr="/home/claude/build/assets/scrim_bottom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Decorative tim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129784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5047488"/>
            <a:ext cx="201168" cy="201168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type="body" idx="102" hasCustomPrompt="1"/>
          </p:nvPr>
        </p:nvSpPr>
        <p:spPr>
          <a:xfrm>
            <a:off x="6949440" y="3713378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2010s</a:t>
            </a:r>
            <a:endParaRPr lang="en-US" sz="7200" dirty="0"/>
          </a:p>
        </p:txBody>
      </p:sp>
      <p:sp>
        <p:nvSpPr>
          <p:cNvPr id="7" name="Text 0"/>
          <p:cNvSpPr txBox="1"/>
          <p:nvPr>
            <p:ph type="body" idx="104" hasCustomPrompt="1"/>
          </p:nvPr>
        </p:nvSpPr>
        <p:spPr>
          <a:xfrm>
            <a:off x="5943600" y="5486400"/>
            <a:ext cx="5504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HEATHER’S CAMP, CAMPERS &amp; DELTA GAMMA VOLUNTEER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38: 2010s, ENVISION ARTS YOUTH PROGRAM PARTICIPANT</a:t>
            </a:r>
            <a:endParaRPr lang="en-US" sz="1800" dirty="0"/>
          </a:p>
        </p:txBody>
      </p:sp>
      <p:pic>
        <p:nvPicPr>
          <p:cNvPr id="3" name="Image 0" descr="A boy in a red plaid shirt with a name tag, standing with a staff member holding a white cane outside a store entrance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777240"/>
            <a:ext cx="6803136" cy="461772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2010s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ARTS YOUTH PROGRAM PARTICIPANT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42: 2017, BRAILLE CHALLENGE, WICHITA</a:t>
            </a:r>
            <a:endParaRPr lang="en-US" sz="1800" dirty="0"/>
          </a:p>
        </p:txBody>
      </p:sp>
      <p:pic>
        <p:nvPicPr>
          <p:cNvPr id="3" name="Image 0" descr="Children in matching maroon shirts sit in rows with white canes while one raises a hand during a presentation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Decorative scrim" descr="/home/claude/build/assets/scrim_bottom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Decorative tim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129784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5047488"/>
            <a:ext cx="201168" cy="201168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type="body" idx="102" hasCustomPrompt="1"/>
          </p:nvPr>
        </p:nvSpPr>
        <p:spPr>
          <a:xfrm>
            <a:off x="6949440" y="3713378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2017</a:t>
            </a:r>
            <a:endParaRPr lang="en-US" sz="7200" dirty="0"/>
          </a:p>
        </p:txBody>
      </p:sp>
      <p:sp>
        <p:nvSpPr>
          <p:cNvPr id="7" name="Text 0"/>
          <p:cNvSpPr txBox="1"/>
          <p:nvPr>
            <p:ph type="body" idx="104" hasCustomPrompt="1"/>
          </p:nvPr>
        </p:nvSpPr>
        <p:spPr>
          <a:xfrm>
            <a:off x="5943600" y="5486400"/>
            <a:ext cx="5504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BRAILLE CHALLENGE, WICHITA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Gold level sponsor INTRUST Bank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GOLD LEVEL SPONSOR</a:t>
            </a:r>
            <a:endParaRPr lang="en-US" sz="2800" dirty="0"/>
          </a:p>
        </p:txBody>
      </p:sp>
      <p:sp>
        <p:nvSpPr>
          <p:cNvPr id="9003" name="INTRUST Bank (name)"/>
          <p:cNvSpPr txBox="1"/>
          <p:nvPr/>
        </p:nvSpPr>
        <p:spPr>
          <a:xfrm>
            <a:off x="3291840" y="2148840"/>
            <a:ext cx="5614416" cy="2743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rmAutofit/>
          </a:bodyPr>
          <a:lstStyle/>
          <a:p>
            <a:pPr algn="ctr"/>
            <a:r>
              <a:rPr lang="en-US" sz="5400" dirty="0">
                <a:solidFill>
                  <a:srgbClr val="FFFFFF"/>
                </a:solidFill>
                <a:latin typeface="Montserrat Light"/>
                <a:cs typeface="Montserrat Light"/>
              </a:rPr>
              <a:t>INTRUST Bank</a:t>
            </a:r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43: 2018, ENVISION’S LEVEL UP, PROGRAM PARTICIPANTS</a:t>
            </a:r>
            <a:endParaRPr lang="en-US" sz="1800" dirty="0"/>
          </a:p>
        </p:txBody>
      </p:sp>
      <p:pic>
        <p:nvPicPr>
          <p:cNvPr id="3" name="Image 0" descr="Four teens and an instructor lean into a pink ride-on car to wire its electronics in a workshop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822960"/>
            <a:ext cx="5212080" cy="3538728"/>
          </a:xfrm>
          <a:prstGeom prst="rect">
            <a:avLst/>
          </a:prstGeom>
        </p:spPr>
      </p:pic>
      <p:pic>
        <p:nvPicPr>
          <p:cNvPr id="4" name="Image 1" descr="Two teens work with screwdrivers on a black plastic chassis in a workshop">    </p:cNvPr>
          <p:cNvPicPr>
            <a:picLocks noChangeAspect="1"/>
          </p:cNvPicPr>
          <p:nvPr>
            <p:ph type="pic" idx="102" hasCustomPrompt="1"/>
          </p:nvPr>
        </p:nvPicPr>
        <p:blipFill>
          <a:blip r:embed="rId2"/>
          <a:srcRect l="0" r="0" t="0" b="0"/>
          <a:stretch/>
        </p:blipFill>
        <p:spPr>
          <a:xfrm>
            <a:off x="6245352" y="822960"/>
            <a:ext cx="5212080" cy="35387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6858000" y="3713378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2018</a:t>
            </a:r>
            <a:endParaRPr lang="en-US" sz="7200" dirty="0"/>
          </a:p>
        </p:txBody>
      </p:sp>
      <p:sp>
        <p:nvSpPr>
          <p:cNvPr id="6" name="Text 0"/>
          <p:cNvSpPr txBox="1"/>
          <p:nvPr>
            <p:ph type="body" idx="103" hasCustomPrompt="1"/>
          </p:nvPr>
        </p:nvSpPr>
        <p:spPr>
          <a:xfrm>
            <a:off x="731520" y="54864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ENVISION’S LEVEL UP, PROGRAM PARTICIPANTS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44: 2018, ENVISION ARTS YOUTH PROGRAM PARTICIPANTS</a:t>
            </a:r>
            <a:endParaRPr lang="en-US" sz="1800" dirty="0"/>
          </a:p>
        </p:txBody>
      </p:sp>
      <p:pic>
        <p:nvPicPr>
          <p:cNvPr id="3" name="Image 0" descr="Six kids pose with an instructor in an art room beside a table of paintings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777240"/>
            <a:ext cx="6803136" cy="461772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2018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ARTS YOUTH PROGRAM PARTICIPANTS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45: 2019, ENVISION GOLF CLINIC, PROGRAM PARTICIPANT</a:t>
            </a:r>
            <a:endParaRPr lang="en-US" sz="1800" dirty="0"/>
          </a:p>
        </p:txBody>
      </p:sp>
      <p:pic>
        <p:nvPicPr>
          <p:cNvPr id="3" name="Image 0" descr="An instructor guides a young golfer’s putting stance on a green while a woman in an Envision shirt watches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t="13800" b="13800"/>
          <a:stretch/>
        </p:blipFill>
        <p:spPr>
          <a:xfrm>
            <a:off x="731520" y="777240"/>
            <a:ext cx="6803136" cy="461772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2019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GOLF CLINIC, PROGRAM PARTICIPANT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47: 2020, ENVISION’S LEVEL UP, PROGRAM PARTICIPANTS</a:t>
            </a:r>
            <a:endParaRPr lang="en-US" sz="1800" dirty="0"/>
          </a:p>
        </p:txBody>
      </p:sp>
      <p:pic>
        <p:nvPicPr>
          <p:cNvPr id="3" name="Image 0" descr="Two Level Up students share a laptop at an Envision University table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777240"/>
            <a:ext cx="6803136" cy="461772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2020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ENVISION’S LEVEL UP, PROGRAM PARTICIPANTS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48: 2020, ENVISION MONTHLY PROGRAMS</a:t>
            </a:r>
            <a:endParaRPr lang="en-US" sz="1800" dirty="0"/>
          </a:p>
        </p:txBody>
      </p:sp>
      <p:pic>
        <p:nvPicPr>
          <p:cNvPr id="3" name="Image 0" descr="A large group of kids and volunteers pose with a dog mascot at a bowling alley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822960"/>
            <a:ext cx="5212080" cy="3538728"/>
          </a:xfrm>
          <a:prstGeom prst="rect">
            <a:avLst/>
          </a:prstGeom>
        </p:spPr>
      </p:pic>
      <p:pic>
        <p:nvPicPr>
          <p:cNvPr id="4" name="Image 1" descr="A volunteer and a boy in glasses grin beside the ball return at a bowling alley">    </p:cNvPr>
          <p:cNvPicPr>
            <a:picLocks noChangeAspect="1"/>
          </p:cNvPicPr>
          <p:nvPr>
            <p:ph type="pic" idx="102" hasCustomPrompt="1"/>
          </p:nvPr>
        </p:nvPicPr>
        <p:blipFill>
          <a:blip r:embed="rId2"/>
          <a:srcRect l="0" r="0" t="0" b="0"/>
          <a:stretch/>
        </p:blipFill>
        <p:spPr>
          <a:xfrm>
            <a:off x="6245352" y="822960"/>
            <a:ext cx="5212080" cy="35387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6858000" y="3713378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2020</a:t>
            </a:r>
            <a:endParaRPr lang="en-US" sz="7200" dirty="0"/>
          </a:p>
        </p:txBody>
      </p:sp>
      <p:sp>
        <p:nvSpPr>
          <p:cNvPr id="6" name="Text 0"/>
          <p:cNvSpPr txBox="1"/>
          <p:nvPr>
            <p:ph type="body" idx="103" hasCustomPrompt="1"/>
          </p:nvPr>
        </p:nvSpPr>
        <p:spPr>
          <a:xfrm>
            <a:off x="731520" y="54864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MONTHLY PROGRAMS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Silver level sponsors</a:t>
            </a:r>
            <a:endParaRPr lang="en-US" sz="1800" dirty="0"/>
          </a:p>
        </p:txBody>
      </p:sp>
      <p:sp>
        <p:nvSpPr>
          <p:cNvPr id="3" name="Text 0"/>
          <p:cNvSpPr txBox="1"/>
          <p:nvPr>
            <p:ph type="body" idx="101" hasCustomPrompt="1"/>
          </p:nvPr>
        </p:nvSpPr>
        <p:spPr>
          <a:xfrm>
            <a:off x="731520" y="82296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spc="5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SILVER LEVEL SPONSORS</a:t>
            </a:r>
            <a:endParaRPr lang="en-US" sz="2800" dirty="0"/>
          </a:p>
        </p:txBody>
      </p:sp>
      <p:pic>
        <p:nvPicPr>
          <p:cNvPr id="9012" name="ADS logo" descr="ADS logo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62077" y="1684325"/>
            <a:ext cx="722166" cy="883310"/>
          </a:xfrm>
          <a:prstGeom prst="rect">
            <a:avLst/>
          </a:prstGeom>
        </p:spPr>
      </p:pic>
      <p:pic>
        <p:nvPicPr>
          <p:cNvPr id="9013" name="Corza Medical logo" descr="Corza Medical 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70094" y="1743413"/>
            <a:ext cx="2457907" cy="765134"/>
          </a:xfrm>
          <a:prstGeom prst="rect">
            <a:avLst/>
          </a:prstGeom>
        </p:spPr>
      </p:pic>
      <p:pic>
        <p:nvPicPr>
          <p:cNvPr id="9014" name="ARSI logo" descr="ARSI logo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36838" y="1810699"/>
            <a:ext cx="2457907" cy="630563"/>
          </a:xfrm>
          <a:prstGeom prst="rect">
            <a:avLst/>
          </a:prstGeom>
        </p:spPr>
      </p:pic>
      <p:pic>
        <p:nvPicPr>
          <p:cNvPr id="9015" name="EBY logo" descr="EBY logo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27428" y="3284525"/>
            <a:ext cx="1991463" cy="883310"/>
          </a:xfrm>
          <a:prstGeom prst="rect">
            <a:avLst/>
          </a:prstGeom>
        </p:spPr>
      </p:pic>
      <p:pic>
        <p:nvPicPr>
          <p:cNvPr id="9016" name="Belleville logo" descr="Belleville logo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78964" y="3284525"/>
            <a:ext cx="2240168" cy="883310"/>
          </a:xfrm>
          <a:prstGeom prst="rect">
            <a:avLst/>
          </a:prstGeom>
        </p:spPr>
      </p:pic>
      <p:pic>
        <p:nvPicPr>
          <p:cNvPr id="9017" name="Enza Financial logo" descr="Enza Financial logo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50493" y="3284525"/>
            <a:ext cx="2030599" cy="883310"/>
          </a:xfrm>
          <a:prstGeom prst="rect">
            <a:avLst/>
          </a:prstGeom>
        </p:spPr>
      </p:pic>
      <p:sp>
        <p:nvSpPr>
          <p:cNvPr id="9009" name="Vornado (name)"/>
          <p:cNvSpPr txBox="1"/>
          <p:nvPr/>
        </p:nvSpPr>
        <p:spPr>
          <a:xfrm>
            <a:off x="960120" y="4800600"/>
            <a:ext cx="2926080" cy="1051560"/>
          </a:xfrm>
          <a:prstGeom prst="rect">
            <a:avLst/>
          </a:prstGeom>
          <a:noFill/>
        </p:spPr>
        <p:txBody>
          <a:bodyPr wrap="square" lIns="0" tIns="0" rIns="0" bIns="0" anchor="ctr" rtlCol="0">
            <a:normAutofit/>
          </a:bodyPr>
          <a:lstStyle/>
          <a:p>
            <a:pPr algn="ctr"/>
            <a:r>
              <a:rPr lang="en-US" sz="2600" dirty="0">
                <a:solidFill>
                  <a:srgbClr val="FFFFFF"/>
                </a:solidFill>
                <a:latin typeface="Montserrat Light"/>
                <a:cs typeface="Montserrat Light"/>
              </a:rPr>
              <a:t>Vornado</a:t>
            </a:r>
          </a:p>
        </p:txBody>
      </p:sp>
      <p:pic>
        <p:nvPicPr>
          <p:cNvPr id="9018" name="Massif logo" descr="Massif logo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422763" y="4884725"/>
            <a:ext cx="1352569" cy="883310"/>
          </a:xfrm>
          <a:prstGeom prst="rect">
            <a:avLst/>
          </a:prstGeom>
        </p:spPr>
      </p:pic>
      <p:sp>
        <p:nvSpPr>
          <p:cNvPr id="9011" name="Novolex (name)"/>
          <p:cNvSpPr txBox="1"/>
          <p:nvPr/>
        </p:nvSpPr>
        <p:spPr>
          <a:xfrm>
            <a:off x="8302752" y="4800600"/>
            <a:ext cx="2926080" cy="1051560"/>
          </a:xfrm>
          <a:prstGeom prst="rect">
            <a:avLst/>
          </a:prstGeom>
          <a:noFill/>
        </p:spPr>
        <p:txBody>
          <a:bodyPr wrap="square" lIns="0" tIns="0" rIns="0" bIns="0" anchor="ctr" rtlCol="0">
            <a:normAutofit/>
          </a:bodyPr>
          <a:lstStyle/>
          <a:p>
            <a:pPr algn="ctr"/>
            <a:r>
              <a:rPr lang="en-US" sz="2600" dirty="0">
                <a:solidFill>
                  <a:srgbClr val="FFFFFF"/>
                </a:solidFill>
                <a:latin typeface="Montserrat Light"/>
                <a:cs typeface="Montserrat Light"/>
              </a:rPr>
              <a:t>Novolex</a:t>
            </a:r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49: 2021, ENVISION BEEP BASEBALL</a:t>
            </a:r>
            <a:endParaRPr lang="en-US" sz="1800" dirty="0"/>
          </a:p>
        </p:txBody>
      </p:sp>
      <p:pic>
        <p:nvPicPr>
          <p:cNvPr id="3" name="Image 0" descr="The Wichita Falcons and Lonestar Roadrunners beep baseball teams pose together on a field with an Envision banner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Decorative scrim" descr="/home/claude/build/assets/scrim_bottom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Decorative tim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129784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5047488"/>
            <a:ext cx="201168" cy="201168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type="body" idx="102" hasCustomPrompt="1"/>
          </p:nvPr>
        </p:nvSpPr>
        <p:spPr>
          <a:xfrm>
            <a:off x="6949440" y="3713378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2021</a:t>
            </a:r>
            <a:endParaRPr lang="en-US" sz="7200" dirty="0"/>
          </a:p>
        </p:txBody>
      </p:sp>
      <p:sp>
        <p:nvSpPr>
          <p:cNvPr id="7" name="Text 0"/>
          <p:cNvSpPr txBox="1"/>
          <p:nvPr>
            <p:ph type="body" idx="104" hasCustomPrompt="1"/>
          </p:nvPr>
        </p:nvSpPr>
        <p:spPr>
          <a:xfrm>
            <a:off x="5943600" y="5486400"/>
            <a:ext cx="5504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BEEP BASEBALL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51: 2022, ENVISION’S LEVEL UP, PROGRAM PARTICIPANT</a:t>
            </a:r>
            <a:endParaRPr lang="en-US" sz="1800" dirty="0"/>
          </a:p>
        </p:txBody>
      </p:sp>
      <p:pic>
        <p:nvPicPr>
          <p:cNvPr id="3" name="Image 0" descr="A student in a yellow shirt and visor studies a cup of gumballs at a Level Up table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777240"/>
            <a:ext cx="6803136" cy="461772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2022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ENVISION’S LEVEL UP, PROGRAM PARTICIPANT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52: 2022, ENVISION’S LEVEL UP, PROGRAM PARTICIPANT</a:t>
            </a:r>
            <a:endParaRPr lang="en-US" sz="1800" dirty="0"/>
          </a:p>
        </p:txBody>
      </p:sp>
      <p:pic>
        <p:nvPicPr>
          <p:cNvPr id="3" name="Image 0" descr="A young man in an orange shirt with his white cane mentors two Level Up students cutting carrots in a teaching kitchen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Decorative scrim" descr="/home/claude/build/assets/scrim_bottom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Decorative tim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129784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Decorative red point" descr="/home/claude/build/assets/red_dot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5047488"/>
            <a:ext cx="201168" cy="201168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type="body" idx="102" hasCustomPrompt="1"/>
          </p:nvPr>
        </p:nvSpPr>
        <p:spPr>
          <a:xfrm>
            <a:off x="6949440" y="3713378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2022</a:t>
            </a:r>
            <a:endParaRPr lang="en-US" sz="7200" dirty="0"/>
          </a:p>
        </p:txBody>
      </p:sp>
      <p:sp>
        <p:nvSpPr>
          <p:cNvPr id="7" name="Text 0"/>
          <p:cNvSpPr txBox="1"/>
          <p:nvPr>
            <p:ph type="body" idx="104" hasCustomPrompt="1"/>
          </p:nvPr>
        </p:nvSpPr>
        <p:spPr>
          <a:xfrm>
            <a:off x="5943600" y="5486400"/>
            <a:ext cx="5504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ENVISION’S LEVEL UP, PROGRAM PARTICIPANT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53: 2022, ENVISION FORE VISION GOLF TOURNAMENT</a:t>
            </a:r>
            <a:endParaRPr lang="en-US" sz="1800" dirty="0"/>
          </a:p>
        </p:txBody>
      </p:sp>
      <p:pic>
        <p:nvPicPr>
          <p:cNvPr id="3" name="Image 0" descr="Six golfers pose together on a golf course at sunset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731520" y="777240"/>
            <a:ext cx="6803136" cy="461772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2022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2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FORE VISION GOLF TOURNAMENT</a:t>
            </a:r>
            <a:endParaRPr lang="en-US" sz="22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54: 2024, ENVISION’S LEVEL UP, PROGRAM PARTICIPANT</a:t>
            </a:r>
            <a:endParaRPr lang="en-US" sz="1800" dirty="0"/>
          </a:p>
        </p:txBody>
      </p:sp>
      <p:pic>
        <p:nvPicPr>
          <p:cNvPr id="3" name="Image 0" descr="Two Level Up students and an instructor build a desktop PC, one student fitting a part with a screwdriver">    </p:cNvPr>
          <p:cNvPicPr>
            <a:picLocks noChangeAspect="1"/>
          </p:cNvPicPr>
          <p:nvPr>
            <p:ph type="pic" idx="101" hasCustomPrompt="1"/>
          </p:nvPr>
        </p:nvPicPr>
        <p:blipFill>
          <a:blip r:embed="rId1"/>
          <a:srcRect t="13800" b="13800"/>
          <a:stretch/>
        </p:blipFill>
        <p:spPr>
          <a:xfrm>
            <a:off x="731520" y="777240"/>
            <a:ext cx="6803136" cy="461772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type="body" idx="102" hasCustomPrompt="1"/>
          </p:nvPr>
        </p:nvSpPr>
        <p:spPr>
          <a:xfrm>
            <a:off x="7863840" y="371337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200" spc="14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2024</a:t>
            </a:r>
            <a:endParaRPr lang="en-US" sz="72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731520" y="5486400"/>
            <a:ext cx="107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spc="43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ENVISION’S LEVEL UP, PROGRAM PARTICIPANT</a:t>
            </a:r>
            <a:endParaRPr lang="en-US" sz="18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55: 2024, HEATHER’S CAMP</a:t>
            </a:r>
            <a:endParaRPr lang="en-US" sz="1800" dirty="0"/>
          </a:p>
        </p:txBody>
      </p:sp>
      <p:pic>
        <p:nvPicPr>
          <p:cNvPr id="3" name="Image 0" descr="Aubree as a young camper in a pink dress holds an orange flower and her white cane between two smiling counselors under a tree">    </p:cNvPr>
          <p:cNvPicPr>
            <a:picLocks noChangeAspect="1"/>
          </p:cNvPicPr>
          <p:nvPr>
            <p:ph type="pic" idx="102" hasCustomPrompt="1"/>
          </p:nvPr>
        </p:nvPicPr>
        <p:blipFill>
          <a:blip r:embed="rId1"/>
          <a:srcRect l="0" r="0" t="0" b="0"/>
          <a:stretch/>
        </p:blipFill>
        <p:spPr>
          <a:xfrm>
            <a:off x="2411273" y="868680"/>
            <a:ext cx="2858414" cy="3657600"/>
          </a:xfrm>
          <a:prstGeom prst="rect">
            <a:avLst/>
          </a:prstGeom>
        </p:spPr>
      </p:pic>
      <p:pic>
        <p:nvPicPr>
          <p:cNvPr id="4" name="Image 1" descr="Aubree, a Level Up student in a black dress, holds her white cane and looks up with a smile">    </p:cNvPr>
          <p:cNvPicPr>
            <a:picLocks noChangeAspect="1"/>
          </p:cNvPicPr>
          <p:nvPr>
            <p:ph type="pic" idx="103" hasCustomPrompt="1"/>
          </p:nvPr>
        </p:nvPicPr>
        <p:blipFill>
          <a:blip r:embed="rId2"/>
          <a:srcRect l="0" r="0" t="0" b="0"/>
          <a:stretch/>
        </p:blipFill>
        <p:spPr>
          <a:xfrm>
            <a:off x="6919265" y="868680"/>
            <a:ext cx="2858414" cy="36576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2411273" y="4410151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spc="1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2024</a:t>
            </a:r>
            <a:endParaRPr lang="en-US" sz="5400" dirty="0"/>
          </a:p>
        </p:txBody>
      </p:sp>
      <p:sp>
        <p:nvSpPr>
          <p:cNvPr id="6" name="Text 0"/>
          <p:cNvSpPr txBox="1"/>
          <p:nvPr>
            <p:ph type="body" idx="105" hasCustomPrompt="1"/>
          </p:nvPr>
        </p:nvSpPr>
        <p:spPr>
          <a:xfrm>
            <a:off x="2411273" y="5349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spc="36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HEATHER’S CAMP</a:t>
            </a:r>
            <a:endParaRPr lang="en-US" sz="2000" dirty="0"/>
          </a:p>
        </p:txBody>
      </p:sp>
      <p:sp>
        <p:nvSpPr>
          <p:cNvPr id="7" name="Text 0"/>
          <p:cNvSpPr txBox="1"/>
          <p:nvPr>
            <p:ph type="body" idx="101" hasCustomPrompt="1"/>
          </p:nvPr>
        </p:nvSpPr>
        <p:spPr>
          <a:xfrm>
            <a:off x="731520" y="22860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47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AUBREE  ·  FEATURED GUEST</a:t>
            </a:r>
            <a:endParaRPr lang="en-US" sz="2600" dirty="0"/>
          </a:p>
        </p:txBody>
      </p:sp>
      <p:sp>
        <p:nvSpPr>
          <p:cNvPr id="8" name="Text 0"/>
          <p:cNvSpPr txBox="1"/>
          <p:nvPr>
            <p:ph type="body" idx="106" hasCustomPrompt="1"/>
          </p:nvPr>
        </p:nvSpPr>
        <p:spPr>
          <a:xfrm>
            <a:off x="6919265" y="4410151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5400" spc="1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2026</a:t>
            </a:r>
            <a:endParaRPr lang="en-US" sz="5400" dirty="0"/>
          </a:p>
        </p:txBody>
      </p:sp>
      <p:sp>
        <p:nvSpPr>
          <p:cNvPr id="9" name="Text 0"/>
          <p:cNvSpPr txBox="1"/>
          <p:nvPr>
            <p:ph type="body" idx="108" hasCustomPrompt="1"/>
          </p:nvPr>
        </p:nvSpPr>
        <p:spPr>
          <a:xfrm>
            <a:off x="6044184" y="5349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000" spc="36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LEVEL UP</a:t>
            </a:r>
            <a:endParaRPr lang="en-US" sz="20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56: 2011, ENVISION CHILD DEVELOPMENT CENTER</a:t>
            </a:r>
            <a:endParaRPr lang="en-US" sz="1800" dirty="0"/>
          </a:p>
        </p:txBody>
      </p:sp>
      <p:pic>
        <p:nvPicPr>
          <p:cNvPr id="3" name="Image 0" descr="Adah as a preschooler in glasses wearing a paper feather headdress and smiling">    </p:cNvPr>
          <p:cNvPicPr>
            <a:picLocks noChangeAspect="1"/>
          </p:cNvPicPr>
          <p:nvPr>
            <p:ph type="pic" idx="102" hasCustomPrompt="1"/>
          </p:nvPr>
        </p:nvPicPr>
        <p:blipFill>
          <a:blip r:embed="rId1"/>
          <a:srcRect l="0" r="0" t="0" b="0"/>
          <a:stretch/>
        </p:blipFill>
        <p:spPr>
          <a:xfrm>
            <a:off x="2411273" y="868680"/>
            <a:ext cx="2858414" cy="3657600"/>
          </a:xfrm>
          <a:prstGeom prst="rect">
            <a:avLst/>
          </a:prstGeom>
        </p:spPr>
      </p:pic>
      <p:pic>
        <p:nvPicPr>
          <p:cNvPr id="4" name="Image 1" descr="Adah in a purple cap and gown with a Class of 2026 stole smiles beside a friend outside her graduation">    </p:cNvPr>
          <p:cNvPicPr>
            <a:picLocks noChangeAspect="1"/>
          </p:cNvPicPr>
          <p:nvPr>
            <p:ph type="pic" idx="103" hasCustomPrompt="1"/>
          </p:nvPr>
        </p:nvPicPr>
        <p:blipFill>
          <a:blip r:embed="rId2"/>
          <a:srcRect l="0" r="0" t="0" b="0"/>
          <a:stretch/>
        </p:blipFill>
        <p:spPr>
          <a:xfrm>
            <a:off x="6919265" y="868680"/>
            <a:ext cx="2858414" cy="36576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2411273" y="4410151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spc="1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2011</a:t>
            </a:r>
            <a:endParaRPr lang="en-US" sz="5400" dirty="0"/>
          </a:p>
        </p:txBody>
      </p:sp>
      <p:sp>
        <p:nvSpPr>
          <p:cNvPr id="6" name="Text 0"/>
          <p:cNvSpPr txBox="1"/>
          <p:nvPr>
            <p:ph type="body" idx="105" hasCustomPrompt="1"/>
          </p:nvPr>
        </p:nvSpPr>
        <p:spPr>
          <a:xfrm>
            <a:off x="2411273" y="53492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spc="36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CHILD DEVELOPMENT CENTER</a:t>
            </a:r>
            <a:endParaRPr lang="en-US" sz="2000" dirty="0"/>
          </a:p>
        </p:txBody>
      </p:sp>
      <p:sp>
        <p:nvSpPr>
          <p:cNvPr id="7" name="Text 0"/>
          <p:cNvSpPr txBox="1"/>
          <p:nvPr>
            <p:ph type="body" idx="101" hasCustomPrompt="1"/>
          </p:nvPr>
        </p:nvSpPr>
        <p:spPr>
          <a:xfrm>
            <a:off x="731520" y="22860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47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ADAH  ·  FEATURED GUEST</a:t>
            </a:r>
            <a:endParaRPr lang="en-US" sz="2600" dirty="0"/>
          </a:p>
        </p:txBody>
      </p:sp>
      <p:sp>
        <p:nvSpPr>
          <p:cNvPr id="8" name="Text 0"/>
          <p:cNvSpPr txBox="1"/>
          <p:nvPr>
            <p:ph type="body" idx="106" hasCustomPrompt="1"/>
          </p:nvPr>
        </p:nvSpPr>
        <p:spPr>
          <a:xfrm>
            <a:off x="6919265" y="4410151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5400" spc="1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2026</a:t>
            </a:r>
            <a:endParaRPr lang="en-US" sz="5400" dirty="0"/>
          </a:p>
        </p:txBody>
      </p:sp>
      <p:sp>
        <p:nvSpPr>
          <p:cNvPr id="9" name="Text 0"/>
          <p:cNvSpPr txBox="1"/>
          <p:nvPr>
            <p:ph type="body" idx="108" hasCustomPrompt="1"/>
          </p:nvPr>
        </p:nvSpPr>
        <p:spPr>
          <a:xfrm>
            <a:off x="6044184" y="5349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000" spc="36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HIGH SCHOOL GRADUATE</a:t>
            </a:r>
            <a:endParaRPr lang="en-US" sz="20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 57: 2015, ENVISION ARTS YOUTH PROGRAM</a:t>
            </a:r>
            <a:endParaRPr lang="en-US" sz="1800" dirty="0"/>
          </a:p>
        </p:txBody>
      </p:sp>
      <p:pic>
        <p:nvPicPr>
          <p:cNvPr id="3" name="Image 0" descr="Hashim as a boy in a red plaid shirt painting a wooden shape blue">    </p:cNvPr>
          <p:cNvPicPr>
            <a:picLocks noChangeAspect="1"/>
          </p:cNvPicPr>
          <p:nvPr>
            <p:ph type="pic" idx="102" hasCustomPrompt="1"/>
          </p:nvPr>
        </p:nvPicPr>
        <p:blipFill>
          <a:blip r:embed="rId1"/>
          <a:srcRect l="0" r="0" t="0" b="0"/>
          <a:stretch/>
        </p:blipFill>
        <p:spPr>
          <a:xfrm>
            <a:off x="2411273" y="868680"/>
            <a:ext cx="2858414" cy="3657600"/>
          </a:xfrm>
          <a:prstGeom prst="rect">
            <a:avLst/>
          </a:prstGeom>
        </p:spPr>
      </p:pic>
      <p:pic>
        <p:nvPicPr>
          <p:cNvPr id="4" name="Image 1" descr="Hashim in a graduation cap and gown with a green stole holds up a Wichita State University diploma and signs I love you">    </p:cNvPr>
          <p:cNvPicPr>
            <a:picLocks noChangeAspect="1"/>
          </p:cNvPicPr>
          <p:nvPr>
            <p:ph type="pic" idx="103" hasCustomPrompt="1"/>
          </p:nvPr>
        </p:nvPicPr>
        <p:blipFill>
          <a:blip r:embed="rId2"/>
          <a:srcRect l="0" r="0" t="0" b="0"/>
          <a:stretch/>
        </p:blipFill>
        <p:spPr>
          <a:xfrm>
            <a:off x="6919265" y="868680"/>
            <a:ext cx="2858414" cy="36576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2411273" y="4410151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spc="1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2015</a:t>
            </a:r>
            <a:endParaRPr lang="en-US" sz="5400" dirty="0"/>
          </a:p>
        </p:txBody>
      </p:sp>
      <p:sp>
        <p:nvSpPr>
          <p:cNvPr id="6" name="Text 0"/>
          <p:cNvSpPr txBox="1"/>
          <p:nvPr>
            <p:ph type="body" idx="105" hasCustomPrompt="1"/>
          </p:nvPr>
        </p:nvSpPr>
        <p:spPr>
          <a:xfrm>
            <a:off x="2411273" y="5349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spc="36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ARTS YOUTH PROGRAM</a:t>
            </a:r>
            <a:endParaRPr lang="en-US" sz="2000" dirty="0"/>
          </a:p>
        </p:txBody>
      </p:sp>
      <p:sp>
        <p:nvSpPr>
          <p:cNvPr id="7" name="Text 0"/>
          <p:cNvSpPr txBox="1"/>
          <p:nvPr>
            <p:ph type="body" idx="101" hasCustomPrompt="1"/>
          </p:nvPr>
        </p:nvSpPr>
        <p:spPr>
          <a:xfrm>
            <a:off x="731520" y="22860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47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HASHIM  ·  FEATURED GUEST</a:t>
            </a:r>
            <a:endParaRPr lang="en-US" sz="2600" dirty="0"/>
          </a:p>
        </p:txBody>
      </p:sp>
      <p:sp>
        <p:nvSpPr>
          <p:cNvPr id="8" name="Text 0"/>
          <p:cNvSpPr txBox="1"/>
          <p:nvPr>
            <p:ph type="body" idx="106" hasCustomPrompt="1"/>
          </p:nvPr>
        </p:nvSpPr>
        <p:spPr>
          <a:xfrm>
            <a:off x="6919265" y="4410151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5400" spc="1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2026</a:t>
            </a:r>
            <a:endParaRPr lang="en-US" sz="5400" dirty="0"/>
          </a:p>
        </p:txBody>
      </p:sp>
      <p:sp>
        <p:nvSpPr>
          <p:cNvPr id="9" name="Text 0"/>
          <p:cNvSpPr txBox="1"/>
          <p:nvPr>
            <p:ph type="body" idx="108" hasCustomPrompt="1"/>
          </p:nvPr>
        </p:nvSpPr>
        <p:spPr>
          <a:xfrm>
            <a:off x="6044184" y="5349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000" spc="36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WICHITA STATE GRADUATE</a:t>
            </a:r>
            <a:endParaRPr lang="en-US" sz="20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0" descr="Steven as a teen in a white helmet and Adidas shirt sits on a gray horse inside a barn"/>
          <p:cNvPicPr>
            <a:picLocks noChangeAspect="1"/>
          </p:cNvPicPr>
          <p:nvPr>
            <p:ph type="pic" idx="102" hasCustomPrompt="1"/>
          </p:nvPr>
        </p:nvPicPr>
        <p:blipFill>
          <a:blip r:embed="rId10"/>
          <a:srcRect l="0" r="0" t="0" b="0"/>
          <a:stretch/>
        </p:blipFill>
        <p:spPr>
          <a:xfrm>
            <a:off x="2411273" y="868680"/>
            <a:ext cx="2858414" cy="3657600"/>
          </a:xfrm>
          <a:prstGeom prst="rect">
            <a:avLst/>
          </a:prstGeom>
        </p:spPr>
      </p:pic>
      <p:sp>
        <p:nvSpPr>
          <p:cNvPr id="2" name="Text 0"/>
          <p:cNvSpPr txBox="1"/>
          <p:nvPr>
            <p:ph type="title" idx="100" hasCustomPrompt="1"/>
          </p:nvPr>
        </p:nvSpPr>
        <p:spPr>
          <a:xfrm>
            <a:off x="-18288000" y="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Throwback: 1990s, Envision Programs; 2026, Heather’s Camp; Steven, featured guest</a:t>
            </a:r>
            <a:endParaRPr lang="en-US" sz="1800" dirty="0"/>
          </a:p>
        </p:txBody>
      </p:sp>
      <p:sp>
        <p:nvSpPr>
          <p:cNvPr id="5" name="Text 0"/>
          <p:cNvSpPr txBox="1"/>
          <p:nvPr>
            <p:ph type="body" idx="104" hasCustomPrompt="1"/>
          </p:nvPr>
        </p:nvSpPr>
        <p:spPr>
          <a:xfrm>
            <a:off x="2411273" y="4410151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spc="1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1990s</a:t>
            </a:r>
            <a:endParaRPr lang="en-US" sz="5400" dirty="0"/>
          </a:p>
        </p:txBody>
      </p:sp>
      <p:sp>
        <p:nvSpPr>
          <p:cNvPr id="6" name="Text 0"/>
          <p:cNvSpPr txBox="1"/>
          <p:nvPr>
            <p:ph type="body" idx="105" hasCustomPrompt="1"/>
          </p:nvPr>
        </p:nvSpPr>
        <p:spPr>
          <a:xfrm>
            <a:off x="2411273" y="5349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spc="36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ENVISION PROGRAMS</a:t>
            </a:r>
            <a:endParaRPr lang="en-US" sz="2000" dirty="0"/>
          </a:p>
        </p:txBody>
      </p:sp>
      <p:sp>
        <p:nvSpPr>
          <p:cNvPr id="7" name="Text 0"/>
          <p:cNvSpPr txBox="1"/>
          <p:nvPr>
            <p:ph type="body" idx="101" hasCustomPrompt="1"/>
          </p:nvPr>
        </p:nvSpPr>
        <p:spPr>
          <a:xfrm>
            <a:off x="731520" y="22860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47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STEVEN   ·   FEATURED GUEST</a:t>
            </a:r>
            <a:endParaRPr lang="en-US" sz="2600" dirty="0"/>
          </a:p>
        </p:txBody>
      </p:sp>
      <p:sp>
        <p:nvSpPr>
          <p:cNvPr id="8" name="Text 0"/>
          <p:cNvSpPr txBox="1"/>
          <p:nvPr>
            <p:ph type="body" idx="106" hasCustomPrompt="1"/>
          </p:nvPr>
        </p:nvSpPr>
        <p:spPr>
          <a:xfrm>
            <a:off x="6919265" y="4410151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5400" spc="110" kern="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2026</a:t>
            </a:r>
            <a:endParaRPr lang="en-US" sz="5400" dirty="0"/>
          </a:p>
        </p:txBody>
      </p:sp>
      <p:sp>
        <p:nvSpPr>
          <p:cNvPr id="9" name="Text 0"/>
          <p:cNvSpPr txBox="1"/>
          <p:nvPr>
            <p:ph type="body" idx="108" hasCustomPrompt="1"/>
          </p:nvPr>
        </p:nvSpPr>
        <p:spPr>
          <a:xfrm>
            <a:off x="6044184" y="5349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000" spc="360" kern="0" dirty="0">
                <a:solidFill>
                  <a:srgbClr val="C9C9C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HEATHER’S CAMP</a:t>
            </a:r>
            <a:endParaRPr lang="en-US" sz="2000" dirty="0"/>
          </a:p>
        </p:txBody>
      </p:sp>
      <p:sp>
        <p:nvSpPr>
          <p:cNvPr id="9001" name="Decorative theme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gradFill rotWithShape="1">
            <a:gsLst>
              <a:gs pos="0">
                <a:srgbClr val="1C0609"/>
              </a:gs>
              <a:gs pos="45000">
                <a:srgbClr val="5E0E1B"/>
              </a:gs>
              <a:gs pos="100000">
                <a:srgbClr val="9A1428"/>
              </a:gs>
            </a:gsLst>
            <a:lin ang="0" scaled="0"/>
          </a:gradFill>
          <a:ln>
            <a:noFill/>
          </a:ln>
        </p:spPr>
      </p:sp>
      <p:sp>
        <p:nvSpPr>
          <p:cNvPr id="9002" name="Theme line"/>
          <p:cNvSpPr txBox="1"/>
          <p:nvPr/>
        </p:nvSpPr>
        <p:spPr>
          <a:xfrm>
            <a:off x="731520" y="635508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2000" spc="360" kern="0" dirty="0">
                <a:solidFill>
                  <a:srgbClr val="FFFFFF"/>
                </a:solidFill>
                <a:latin typeface="Montserrat SemiBold" pitchFamily="34" charset="0"/>
                <a:cs typeface="Montserrat SemiBold" pitchFamily="34" charset="-120"/>
              </a:rPr>
              <a:t>ENVISION THE FUTURE  ·  HONOR THE LEGACY</a:t>
            </a:r>
          </a:p>
        </p:txBody>
      </p:sp>
    </p:spTree>
  </p:cSld>
  <p:clrMapOvr>
    <a:masterClrMapping/>
  </p:clrMapOvr>
  <p:transition spd="slow" advClick="1" advTm="8000">
    <p:push dir="l"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ponsor cloud" descr="Thank you to our sponsors: presenting sponsor HighTouch Technologies; corporate sponsors Allen Exploration, SPR, LC Industries Foundation; platinum Forvis Mazars; diamond 6 Meridian, Summit Films, IMA, Hutton; gold INTRUST Bank; silver ADS, Corza Medical, ARSI, EBY, Belleville, Enza Financial, Vornado, MAS SF, Novolex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 advClick="1" advTm="8000">
    <p:push dir="l"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ponsor cloud" descr="Thank you to our sponsors: presenting sponsor HighTouch Technologies; corporate sponsors Allen Exploration, SPR, LC Industries Foundation; platinum Forvis Mazars; diamond 6 Meridian, Summit Films, IMA, Hutton; gold INTRUST Bank; silver ADS, Corza Medical, ARSI, EBY, Belleville, Enza Financial, Vornado, MAS SF, Novolex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 advClick="1" advTm="8000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Envision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Envision Gala 2026: Cocktail Hour Loop</dc:title>
  <dc:subject>PptxGenJS Presentation</dc:subject>
  <dc:creator>Envision Marketing</dc:creator>
  <cp:lastModifiedBy>Envision Marketing</cp:lastModifiedBy>
  <cp:revision>1</cp:revision>
  <dcterms:created xsi:type="dcterms:W3CDTF">2026-09-15T19:36:44Z</dcterms:created>
  <dcterms:modified xsi:type="dcterms:W3CDTF">2026-09-15T19:36:44Z</dcterms:modified>
</cp:coreProperties>
</file>